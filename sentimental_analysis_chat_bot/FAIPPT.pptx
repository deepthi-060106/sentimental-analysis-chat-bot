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74" r:id="rId13"/>
    <p:sldId id="275" r:id="rId14"/>
    <p:sldId id="276" r:id="rId15"/>
    <p:sldId id="264" r:id="rId16"/>
    <p:sldId id="265" r:id="rId17"/>
    <p:sldId id="266" r:id="rId18"/>
    <p:sldId id="267" r:id="rId19"/>
    <p:sldId id="268" r:id="rId20"/>
    <p:sldId id="269" r:id="rId21"/>
    <p:sldId id="270" r:id="rId22"/>
    <p:sldId id="273" r:id="rId23"/>
    <p:sldId id="272" r:id="rId24"/>
    <p:sldId id="271" r:id="rId25"/>
  </p:sldIdLst>
  <p:sldSz cx="18288000" cy="10287000"/>
  <p:notesSz cx="6858000" cy="9144000"/>
  <p:embeddedFontLst>
    <p:embeddedFont>
      <p:font typeface="DM Sans Bold"/>
      <p:regular r:id="rId26"/>
      <p:bold r:id="rId27"/>
    </p:embeddedFont>
    <p:embeddedFont>
      <p:font typeface="Montserrat Classic"/>
      <p:regular r:id="rId28"/>
    </p:embeddedFont>
    <p:embeddedFont>
      <p:font typeface="Montserrat Classic Bold"/>
      <p:regular r:id="rId29"/>
    </p:embeddedFont>
    <p:embeddedFont>
      <p:font typeface="Open Sauce"/>
      <p:regular r:id="rId30"/>
    </p:embeddedFont>
    <p:embeddedFont>
      <p:font typeface="Open Sauce Bold"/>
      <p:regular r:id="rId31"/>
    </p:embeddedFont>
    <p:embeddedFont>
      <p:font typeface="Oswald Bold"/>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0E9504-5B9F-E53B-3096-DD47914E4A68}" v="5" dt="2024-11-08T01:41:08.922"/>
    <p1510:client id="{69F8D0E7-FECC-4F49-A032-C9CCC91429B7}" v="33" dt="2024-11-08T02:33:04.536"/>
    <p1510:client id="{A6868126-EA39-8D2C-D78A-E1082442F48C}" v="13" dt="2024-11-08T01:23:22.097"/>
    <p1510:client id="{B48AD297-A4AE-56FD-2B40-6D9C03C6FBDC}" v="41" dt="2024-11-08T01:15:25.320"/>
    <p1510:client id="{F027D458-FFA1-3A13-A69A-208CCE2979E7}" v="81" dt="2024-11-07T20:19:38.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921" y="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8.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7659121">
            <a:off x="15091031"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3258071" y="-4629150"/>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4236347" y="3202251"/>
            <a:ext cx="10171570" cy="2026750"/>
            <a:chOff x="0" y="0"/>
            <a:chExt cx="1964296" cy="391398"/>
          </a:xfrm>
        </p:grpSpPr>
        <p:sp>
          <p:nvSpPr>
            <p:cNvPr id="6" name="Freeform 6"/>
            <p:cNvSpPr/>
            <p:nvPr/>
          </p:nvSpPr>
          <p:spPr>
            <a:xfrm>
              <a:off x="0" y="0"/>
              <a:ext cx="1964296" cy="391398"/>
            </a:xfrm>
            <a:custGeom>
              <a:avLst/>
              <a:gdLst/>
              <a:ahLst/>
              <a:cxnLst/>
              <a:rect l="l" t="t" r="r" b="b"/>
              <a:pathLst>
                <a:path w="1964296" h="391398">
                  <a:moveTo>
                    <a:pt x="0" y="0"/>
                  </a:moveTo>
                  <a:lnTo>
                    <a:pt x="1964296" y="0"/>
                  </a:lnTo>
                  <a:lnTo>
                    <a:pt x="1964296" y="391398"/>
                  </a:lnTo>
                  <a:lnTo>
                    <a:pt x="0" y="391398"/>
                  </a:lnTo>
                  <a:close/>
                </a:path>
              </a:pathLst>
            </a:custGeom>
            <a:solidFill>
              <a:srgbClr val="000000">
                <a:alpha val="0"/>
              </a:srgbClr>
            </a:solidFill>
            <a:ln w="38100" cap="sq">
              <a:solidFill>
                <a:srgbClr val="000000"/>
              </a:solidFill>
              <a:prstDash val="solid"/>
              <a:miter/>
            </a:ln>
          </p:spPr>
        </p:sp>
        <p:sp>
          <p:nvSpPr>
            <p:cNvPr id="7" name="TextBox 7"/>
            <p:cNvSpPr txBox="1"/>
            <p:nvPr/>
          </p:nvSpPr>
          <p:spPr>
            <a:xfrm>
              <a:off x="0" y="-19050"/>
              <a:ext cx="1964296" cy="410448"/>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13567869" y="142506"/>
            <a:ext cx="4624532" cy="2109296"/>
          </a:xfrm>
          <a:custGeom>
            <a:avLst/>
            <a:gdLst/>
            <a:ahLst/>
            <a:cxnLst/>
            <a:rect l="l" t="t" r="r" b="b"/>
            <a:pathLst>
              <a:path w="4624532" h="2109296">
                <a:moveTo>
                  <a:pt x="0" y="0"/>
                </a:moveTo>
                <a:lnTo>
                  <a:pt x="4624532" y="0"/>
                </a:lnTo>
                <a:lnTo>
                  <a:pt x="4624532" y="2109296"/>
                </a:lnTo>
                <a:lnTo>
                  <a:pt x="0" y="2109296"/>
                </a:lnTo>
                <a:lnTo>
                  <a:pt x="0" y="0"/>
                </a:lnTo>
                <a:close/>
              </a:path>
            </a:pathLst>
          </a:custGeom>
          <a:blipFill>
            <a:blip r:embed="rId5"/>
            <a:stretch>
              <a:fillRect/>
            </a:stretch>
          </a:blipFill>
        </p:spPr>
      </p:sp>
      <p:sp>
        <p:nvSpPr>
          <p:cNvPr id="9" name="TextBox 9"/>
          <p:cNvSpPr txBox="1"/>
          <p:nvPr/>
        </p:nvSpPr>
        <p:spPr>
          <a:xfrm>
            <a:off x="3212089" y="3438109"/>
            <a:ext cx="12181571" cy="1186902"/>
          </a:xfrm>
          <a:prstGeom prst="rect">
            <a:avLst/>
          </a:prstGeom>
        </p:spPr>
        <p:txBody>
          <a:bodyPr lIns="0" tIns="0" rIns="0" bIns="0" rtlCol="0" anchor="t">
            <a:spAutoFit/>
          </a:bodyPr>
          <a:lstStyle/>
          <a:p>
            <a:pPr algn="ctr">
              <a:lnSpc>
                <a:spcPts val="9748"/>
              </a:lnSpc>
            </a:pPr>
            <a:r>
              <a:rPr lang="en-US" sz="7063" b="1" spc="692">
                <a:solidFill>
                  <a:srgbClr val="231F20"/>
                </a:solidFill>
                <a:latin typeface="Oswald Bold"/>
                <a:ea typeface="Oswald Bold"/>
                <a:cs typeface="Oswald Bold"/>
                <a:sym typeface="Oswald Bold"/>
              </a:rPr>
              <a:t>FUNDAMENTALS OF AI</a:t>
            </a:r>
          </a:p>
        </p:txBody>
      </p:sp>
      <p:sp>
        <p:nvSpPr>
          <p:cNvPr id="10" name="TextBox 10"/>
          <p:cNvSpPr txBox="1"/>
          <p:nvPr/>
        </p:nvSpPr>
        <p:spPr>
          <a:xfrm>
            <a:off x="3031326" y="5777710"/>
            <a:ext cx="12848809" cy="1885120"/>
          </a:xfrm>
          <a:prstGeom prst="rect">
            <a:avLst/>
          </a:prstGeom>
        </p:spPr>
        <p:txBody>
          <a:bodyPr lIns="0" tIns="0" rIns="0" bIns="0" rtlCol="0" anchor="t">
            <a:spAutoFit/>
          </a:bodyPr>
          <a:lstStyle/>
          <a:p>
            <a:pPr algn="ctr">
              <a:lnSpc>
                <a:spcPts val="7525"/>
              </a:lnSpc>
            </a:pPr>
            <a:r>
              <a:rPr lang="en-US" sz="5452" b="1" spc="289">
                <a:solidFill>
                  <a:srgbClr val="231F20"/>
                </a:solidFill>
                <a:latin typeface="Montserrat Classic Bold"/>
                <a:ea typeface="Montserrat Classic Bold"/>
                <a:cs typeface="Montserrat Classic Bold"/>
                <a:sym typeface="Montserrat Classic Bold"/>
              </a:rPr>
              <a:t>AI CHATBOT</a:t>
            </a:r>
          </a:p>
          <a:p>
            <a:pPr algn="ctr">
              <a:lnSpc>
                <a:spcPts val="7525"/>
              </a:lnSpc>
            </a:pPr>
            <a:r>
              <a:rPr lang="en-US" sz="5452" b="1" spc="289">
                <a:solidFill>
                  <a:srgbClr val="231F20"/>
                </a:solidFill>
                <a:latin typeface="Montserrat Classic Bold"/>
                <a:ea typeface="Montserrat Classic Bold"/>
                <a:cs typeface="Montserrat Classic Bold"/>
                <a:sym typeface="Montserrat Classic Bold"/>
              </a:rPr>
              <a:t>SENTIMENTAL ANALYSIS</a:t>
            </a:r>
          </a:p>
        </p:txBody>
      </p:sp>
      <p:sp>
        <p:nvSpPr>
          <p:cNvPr id="11" name="TextBox 11"/>
          <p:cNvSpPr txBox="1"/>
          <p:nvPr/>
        </p:nvSpPr>
        <p:spPr>
          <a:xfrm>
            <a:off x="6594820" y="1859315"/>
            <a:ext cx="4293598" cy="1081643"/>
          </a:xfrm>
          <a:prstGeom prst="rect">
            <a:avLst/>
          </a:prstGeom>
        </p:spPr>
        <p:txBody>
          <a:bodyPr wrap="square" lIns="0" tIns="0" rIns="0" bIns="0" rtlCol="0" anchor="t">
            <a:spAutoFit/>
          </a:bodyPr>
          <a:lstStyle/>
          <a:p>
            <a:pPr algn="ctr">
              <a:lnSpc>
                <a:spcPts val="9099"/>
              </a:lnSpc>
              <a:spcBef>
                <a:spcPct val="0"/>
              </a:spcBef>
            </a:pPr>
            <a:r>
              <a:rPr lang="en-US" sz="6999" b="1">
                <a:solidFill>
                  <a:srgbClr val="231F20"/>
                </a:solidFill>
                <a:latin typeface="Open Sauce Bold"/>
                <a:ea typeface="Open Sauce Bold"/>
                <a:cs typeface="Open Sauce Bold"/>
                <a:sym typeface="Open Sauce Bold"/>
              </a:rPr>
              <a:t>22AIE201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5103630" y="1022203"/>
            <a:ext cx="7416941" cy="1686342"/>
          </a:xfrm>
          <a:prstGeom prst="rect">
            <a:avLst/>
          </a:prstGeom>
        </p:spPr>
        <p:txBody>
          <a:bodyPr lIns="0" tIns="0" rIns="0" bIns="0" rtlCol="0" anchor="t">
            <a:spAutoFit/>
          </a:bodyPr>
          <a:lstStyle/>
          <a:p>
            <a:pPr algn="l">
              <a:lnSpc>
                <a:spcPts val="13774"/>
              </a:lnSpc>
            </a:pPr>
            <a:r>
              <a:rPr lang="en-US" sz="9981" b="1" spc="978">
                <a:solidFill>
                  <a:srgbClr val="231F20"/>
                </a:solidFill>
                <a:latin typeface="Oswald Bold"/>
                <a:ea typeface="Oswald Bold"/>
                <a:cs typeface="Oswald Bold"/>
                <a:sym typeface="Oswald Bold"/>
              </a:rPr>
              <a:t>GROUP-14</a:t>
            </a:r>
          </a:p>
        </p:txBody>
      </p:sp>
      <p:sp>
        <p:nvSpPr>
          <p:cNvPr id="4" name="Freeform 4"/>
          <p:cNvSpPr/>
          <p:nvPr/>
        </p:nvSpPr>
        <p:spPr>
          <a:xfrm>
            <a:off x="-2779578" y="7341318"/>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3410259" y="3475690"/>
            <a:ext cx="11467482" cy="3746282"/>
          </a:xfrm>
          <a:prstGeom prst="rect">
            <a:avLst/>
          </a:prstGeom>
        </p:spPr>
        <p:txBody>
          <a:bodyPr lIns="0" tIns="0" rIns="0" bIns="0" rtlCol="0" anchor="t">
            <a:spAutoFit/>
          </a:bodyPr>
          <a:lstStyle/>
          <a:p>
            <a:pPr algn="l">
              <a:lnSpc>
                <a:spcPts val="5850"/>
              </a:lnSpc>
            </a:pPr>
            <a:r>
              <a:rPr lang="en-US" sz="4500" b="1" dirty="0">
                <a:solidFill>
                  <a:srgbClr val="231F20"/>
                </a:solidFill>
                <a:latin typeface="Open Sauce Bold"/>
                <a:ea typeface="Open Sauce Bold"/>
                <a:cs typeface="Open Sauce Bold"/>
                <a:sym typeface="Open Sauce Bold"/>
              </a:rPr>
              <a:t>A Deepthi          -CB.SC.U4AIE23007</a:t>
            </a:r>
          </a:p>
          <a:p>
            <a:pPr algn="l">
              <a:lnSpc>
                <a:spcPts val="5850"/>
              </a:lnSpc>
            </a:pPr>
            <a:r>
              <a:rPr lang="en-US" sz="4500" b="1" dirty="0">
                <a:solidFill>
                  <a:srgbClr val="231F20"/>
                </a:solidFill>
                <a:latin typeface="Open Sauce Bold"/>
                <a:ea typeface="Open Sauce Bold"/>
                <a:cs typeface="Open Sauce Bold"/>
                <a:sym typeface="Open Sauce Bold"/>
              </a:rPr>
              <a:t>A Sai Sanjana    -CB.SC.U4AIE23013</a:t>
            </a:r>
            <a:endParaRPr lang="en-US" sz="4500" b="1" dirty="0">
              <a:solidFill>
                <a:srgbClr val="231F20"/>
              </a:solidFill>
              <a:latin typeface="Open Sauce Bold"/>
              <a:ea typeface="Open Sauce Bold"/>
              <a:cs typeface="Open Sauce Bold"/>
            </a:endParaRPr>
          </a:p>
          <a:p>
            <a:pPr algn="l">
              <a:lnSpc>
                <a:spcPts val="5850"/>
              </a:lnSpc>
            </a:pPr>
            <a:r>
              <a:rPr lang="en-US" sz="4500" b="1" dirty="0">
                <a:solidFill>
                  <a:srgbClr val="231F20"/>
                </a:solidFill>
                <a:latin typeface="Open Sauce Bold"/>
                <a:ea typeface="Open Sauce Bold"/>
                <a:cs typeface="Open Sauce Bold"/>
                <a:sym typeface="Open Sauce Bold"/>
              </a:rPr>
              <a:t>K Prerana           -CB.SC.U4AIE23038</a:t>
            </a:r>
            <a:endParaRPr lang="en-US" sz="4500" b="1" dirty="0">
              <a:solidFill>
                <a:srgbClr val="231F20"/>
              </a:solidFill>
              <a:latin typeface="Open Sauce Bold"/>
              <a:ea typeface="Open Sauce Bold"/>
              <a:cs typeface="Open Sauce Bold"/>
            </a:endParaRPr>
          </a:p>
          <a:p>
            <a:pPr>
              <a:lnSpc>
                <a:spcPts val="5850"/>
              </a:lnSpc>
            </a:pPr>
            <a:r>
              <a:rPr lang="en-US" sz="4500" b="1" dirty="0">
                <a:solidFill>
                  <a:srgbClr val="231F20"/>
                </a:solidFill>
                <a:latin typeface="Open Sauce Bold"/>
                <a:ea typeface="Open Sauce Bold"/>
                <a:cs typeface="Open Sauce Bold"/>
                <a:sym typeface="Open Sauce Bold"/>
              </a:rPr>
              <a:t>P Srikari Shasi   -CB.SC.U4AIE23053</a:t>
            </a:r>
            <a:endParaRPr lang="en-US" sz="4500" b="1" dirty="0">
              <a:solidFill>
                <a:srgbClr val="231F20"/>
              </a:solidFill>
              <a:latin typeface="Open Sauce Bold"/>
              <a:ea typeface="Open Sauce Bold"/>
              <a:cs typeface="Open Sauce Bold"/>
            </a:endParaRPr>
          </a:p>
          <a:p>
            <a:pPr algn="l">
              <a:lnSpc>
                <a:spcPts val="5850"/>
              </a:lnSpc>
              <a:spcBef>
                <a:spcPct val="0"/>
              </a:spcBef>
            </a:pPr>
            <a:r>
              <a:rPr lang="en-US" sz="4500" b="1" dirty="0" err="1">
                <a:solidFill>
                  <a:srgbClr val="231F20"/>
                </a:solidFill>
                <a:latin typeface="Open Sauce Bold"/>
                <a:ea typeface="Open Sauce Bold"/>
                <a:cs typeface="Open Sauce Bold"/>
                <a:sym typeface="Open Sauce Bold"/>
              </a:rPr>
              <a:t>Rithish</a:t>
            </a:r>
            <a:r>
              <a:rPr lang="en-US" sz="4500" b="1" dirty="0">
                <a:solidFill>
                  <a:srgbClr val="231F20"/>
                </a:solidFill>
                <a:latin typeface="Open Sauce Bold"/>
                <a:ea typeface="Open Sauce Bold"/>
                <a:cs typeface="Open Sauce Bold"/>
                <a:sym typeface="Open Sauce Bold"/>
              </a:rPr>
              <a:t> A B         -CB.SC.U4AIE23057</a:t>
            </a:r>
            <a:endParaRPr lang="en-US" sz="4500" b="1" dirty="0">
              <a:solidFill>
                <a:srgbClr val="231F20"/>
              </a:solidFill>
              <a:latin typeface="Open Sauce Bold"/>
              <a:ea typeface="Open Sauce Bold"/>
              <a:cs typeface="Open Sauce Bold"/>
            </a:endParaRPr>
          </a:p>
        </p:txBody>
      </p:sp>
      <p:sp>
        <p:nvSpPr>
          <p:cNvPr id="6" name="Freeform 6"/>
          <p:cNvSpPr/>
          <p:nvPr/>
        </p:nvSpPr>
        <p:spPr>
          <a:xfrm>
            <a:off x="-2627178" y="7493718"/>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2474778" y="7646118"/>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4012602" y="558571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999719" y="2823398"/>
            <a:ext cx="1400485" cy="6493178"/>
            <a:chOff x="0" y="0"/>
            <a:chExt cx="368852" cy="1710138"/>
          </a:xfrm>
        </p:grpSpPr>
        <p:sp>
          <p:nvSpPr>
            <p:cNvPr id="4" name="Freeform 4"/>
            <p:cNvSpPr/>
            <p:nvPr/>
          </p:nvSpPr>
          <p:spPr>
            <a:xfrm>
              <a:off x="0" y="0"/>
              <a:ext cx="368852" cy="1710137"/>
            </a:xfrm>
            <a:custGeom>
              <a:avLst/>
              <a:gdLst/>
              <a:ahLst/>
              <a:cxnLst/>
              <a:rect l="l" t="t" r="r" b="b"/>
              <a:pathLst>
                <a:path w="368852" h="1710137">
                  <a:moveTo>
                    <a:pt x="0" y="0"/>
                  </a:moveTo>
                  <a:lnTo>
                    <a:pt x="368852" y="0"/>
                  </a:lnTo>
                  <a:lnTo>
                    <a:pt x="368852" y="1710137"/>
                  </a:lnTo>
                  <a:lnTo>
                    <a:pt x="0" y="1710137"/>
                  </a:lnTo>
                  <a:close/>
                </a:path>
              </a:pathLst>
            </a:custGeom>
            <a:solidFill>
              <a:srgbClr val="CCCCCC"/>
            </a:solidFill>
          </p:spPr>
        </p:sp>
        <p:sp>
          <p:nvSpPr>
            <p:cNvPr id="5" name="TextBox 5"/>
            <p:cNvSpPr txBox="1"/>
            <p:nvPr/>
          </p:nvSpPr>
          <p:spPr>
            <a:xfrm>
              <a:off x="0" y="-19050"/>
              <a:ext cx="368852" cy="1729188"/>
            </a:xfrm>
            <a:prstGeom prst="rect">
              <a:avLst/>
            </a:prstGeom>
          </p:spPr>
          <p:txBody>
            <a:bodyPr lIns="50800" tIns="50800" rIns="50800" bIns="50800" rtlCol="0" anchor="ctr"/>
            <a:lstStyle/>
            <a:p>
              <a:pPr algn="ctr">
                <a:lnSpc>
                  <a:spcPts val="2859"/>
                </a:lnSpc>
              </a:pPr>
              <a:endParaRPr/>
            </a:p>
          </p:txBody>
        </p:sp>
      </p:grpSp>
      <p:sp>
        <p:nvSpPr>
          <p:cNvPr id="6" name="TextBox 6"/>
          <p:cNvSpPr txBox="1"/>
          <p:nvPr/>
        </p:nvSpPr>
        <p:spPr>
          <a:xfrm>
            <a:off x="5019320" y="274994"/>
            <a:ext cx="7416941" cy="1683727"/>
          </a:xfrm>
          <a:prstGeom prst="rect">
            <a:avLst/>
          </a:prstGeom>
        </p:spPr>
        <p:txBody>
          <a:bodyPr lIns="0" tIns="0" rIns="0" bIns="0" rtlCol="0" anchor="t">
            <a:spAutoFit/>
          </a:bodyPr>
          <a:lstStyle/>
          <a:p>
            <a:pPr algn="ctr">
              <a:lnSpc>
                <a:spcPts val="13774"/>
              </a:lnSpc>
            </a:pPr>
            <a:r>
              <a:rPr lang="en-US" sz="9981" b="1" spc="978">
                <a:solidFill>
                  <a:srgbClr val="231F20"/>
                </a:solidFill>
                <a:latin typeface="Oswald Bold"/>
                <a:ea typeface="Oswald Bold"/>
                <a:cs typeface="Oswald Bold"/>
                <a:sym typeface="Oswald Bold"/>
              </a:rPr>
              <a:t>CONTENT</a:t>
            </a:r>
          </a:p>
        </p:txBody>
      </p:sp>
      <p:sp>
        <p:nvSpPr>
          <p:cNvPr id="7" name="Freeform 7"/>
          <p:cNvSpPr/>
          <p:nvPr/>
        </p:nvSpPr>
        <p:spPr>
          <a:xfrm rot="2016048">
            <a:off x="12243487" y="-1005305"/>
            <a:ext cx="10749463" cy="2687366"/>
          </a:xfrm>
          <a:custGeom>
            <a:avLst/>
            <a:gdLst/>
            <a:ahLst/>
            <a:cxnLst/>
            <a:rect l="l" t="t" r="r" b="b"/>
            <a:pathLst>
              <a:path w="10749463" h="2687366">
                <a:moveTo>
                  <a:pt x="0" y="0"/>
                </a:moveTo>
                <a:lnTo>
                  <a:pt x="10749463" y="0"/>
                </a:lnTo>
                <a:lnTo>
                  <a:pt x="10749463" y="2687365"/>
                </a:lnTo>
                <a:lnTo>
                  <a:pt x="0" y="2687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5231353" y="3225185"/>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01</a:t>
            </a:r>
          </a:p>
        </p:txBody>
      </p:sp>
      <p:sp>
        <p:nvSpPr>
          <p:cNvPr id="9" name="TextBox 9"/>
          <p:cNvSpPr txBox="1"/>
          <p:nvPr/>
        </p:nvSpPr>
        <p:spPr>
          <a:xfrm>
            <a:off x="5231353" y="4022304"/>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02</a:t>
            </a:r>
          </a:p>
        </p:txBody>
      </p:sp>
      <p:sp>
        <p:nvSpPr>
          <p:cNvPr id="10" name="TextBox 10"/>
          <p:cNvSpPr txBox="1"/>
          <p:nvPr/>
        </p:nvSpPr>
        <p:spPr>
          <a:xfrm>
            <a:off x="5231353" y="4903461"/>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03</a:t>
            </a:r>
          </a:p>
        </p:txBody>
      </p:sp>
      <p:sp>
        <p:nvSpPr>
          <p:cNvPr id="11" name="TextBox 11"/>
          <p:cNvSpPr txBox="1"/>
          <p:nvPr/>
        </p:nvSpPr>
        <p:spPr>
          <a:xfrm>
            <a:off x="5231353" y="5700580"/>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04</a:t>
            </a:r>
          </a:p>
        </p:txBody>
      </p:sp>
      <p:sp>
        <p:nvSpPr>
          <p:cNvPr id="12" name="TextBox 12"/>
          <p:cNvSpPr txBox="1"/>
          <p:nvPr/>
        </p:nvSpPr>
        <p:spPr>
          <a:xfrm>
            <a:off x="5250954" y="6492957"/>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05</a:t>
            </a:r>
          </a:p>
        </p:txBody>
      </p:sp>
      <p:sp>
        <p:nvSpPr>
          <p:cNvPr id="13" name="TextBox 13"/>
          <p:cNvSpPr txBox="1"/>
          <p:nvPr/>
        </p:nvSpPr>
        <p:spPr>
          <a:xfrm>
            <a:off x="5250954" y="7323921"/>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06</a:t>
            </a:r>
          </a:p>
        </p:txBody>
      </p:sp>
      <p:sp>
        <p:nvSpPr>
          <p:cNvPr id="14" name="TextBox 14"/>
          <p:cNvSpPr txBox="1"/>
          <p:nvPr/>
        </p:nvSpPr>
        <p:spPr>
          <a:xfrm>
            <a:off x="5250954" y="8174214"/>
            <a:ext cx="937219" cy="657225"/>
          </a:xfrm>
          <a:prstGeom prst="rect">
            <a:avLst/>
          </a:prstGeom>
        </p:spPr>
        <p:txBody>
          <a:bodyPr lIns="0" tIns="0" rIns="0" bIns="0" rtlCol="0" anchor="t">
            <a:spAutoFit/>
          </a:bodyPr>
          <a:lstStyle/>
          <a:p>
            <a:pPr algn="ctr">
              <a:lnSpc>
                <a:spcPts val="5126"/>
              </a:lnSpc>
            </a:pPr>
            <a:r>
              <a:rPr lang="en-US" sz="4271" b="1" i="1">
                <a:solidFill>
                  <a:srgbClr val="363636"/>
                </a:solidFill>
                <a:latin typeface="Oswald Bold"/>
                <a:ea typeface="Oswald Bold"/>
                <a:cs typeface="Oswald Bold"/>
                <a:sym typeface="Oswald Bold"/>
              </a:rPr>
              <a:t>07</a:t>
            </a:r>
          </a:p>
        </p:txBody>
      </p:sp>
      <p:sp>
        <p:nvSpPr>
          <p:cNvPr id="15" name="TextBox 15"/>
          <p:cNvSpPr txBox="1"/>
          <p:nvPr/>
        </p:nvSpPr>
        <p:spPr>
          <a:xfrm>
            <a:off x="6607430" y="3158510"/>
            <a:ext cx="5790503" cy="680085"/>
          </a:xfrm>
          <a:prstGeom prst="rect">
            <a:avLst/>
          </a:prstGeom>
        </p:spPr>
        <p:txBody>
          <a:bodyPr lIns="0" tIns="0" rIns="0" bIns="0" rtlCol="0" anchor="t">
            <a:spAutoFit/>
          </a:bodyPr>
          <a:lstStyle/>
          <a:p>
            <a:pPr algn="l">
              <a:lnSpc>
                <a:spcPts val="5519"/>
              </a:lnSpc>
            </a:pPr>
            <a:r>
              <a:rPr lang="en-US" sz="3999" b="1" spc="391">
                <a:solidFill>
                  <a:srgbClr val="231F20"/>
                </a:solidFill>
                <a:latin typeface="DM Sans Bold"/>
                <a:ea typeface="DM Sans Bold"/>
                <a:cs typeface="DM Sans Bold"/>
                <a:sym typeface="DM Sans Bold"/>
              </a:rPr>
              <a:t>INTRODUCTION</a:t>
            </a:r>
          </a:p>
        </p:txBody>
      </p:sp>
      <p:sp>
        <p:nvSpPr>
          <p:cNvPr id="16" name="TextBox 16"/>
          <p:cNvSpPr txBox="1"/>
          <p:nvPr/>
        </p:nvSpPr>
        <p:spPr>
          <a:xfrm>
            <a:off x="6616955" y="4777711"/>
            <a:ext cx="6076629" cy="680085"/>
          </a:xfrm>
          <a:prstGeom prst="rect">
            <a:avLst/>
          </a:prstGeom>
        </p:spPr>
        <p:txBody>
          <a:bodyPr lIns="0" tIns="0" rIns="0" bIns="0" rtlCol="0" anchor="t">
            <a:spAutoFit/>
          </a:bodyPr>
          <a:lstStyle/>
          <a:p>
            <a:pPr algn="l">
              <a:lnSpc>
                <a:spcPts val="5519"/>
              </a:lnSpc>
            </a:pPr>
            <a:r>
              <a:rPr lang="en-US" sz="3999" b="1" spc="391">
                <a:solidFill>
                  <a:srgbClr val="231F20"/>
                </a:solidFill>
                <a:latin typeface="DM Sans Bold"/>
                <a:ea typeface="DM Sans Bold"/>
                <a:cs typeface="DM Sans Bold"/>
                <a:sym typeface="DM Sans Bold"/>
              </a:rPr>
              <a:t>OBJECTIVE</a:t>
            </a:r>
          </a:p>
        </p:txBody>
      </p:sp>
      <p:sp>
        <p:nvSpPr>
          <p:cNvPr id="17" name="TextBox 17"/>
          <p:cNvSpPr txBox="1"/>
          <p:nvPr/>
        </p:nvSpPr>
        <p:spPr>
          <a:xfrm>
            <a:off x="6616955" y="3935701"/>
            <a:ext cx="7349155" cy="680085"/>
          </a:xfrm>
          <a:prstGeom prst="rect">
            <a:avLst/>
          </a:prstGeom>
        </p:spPr>
        <p:txBody>
          <a:bodyPr lIns="0" tIns="0" rIns="0" bIns="0" rtlCol="0" anchor="t">
            <a:spAutoFit/>
          </a:bodyPr>
          <a:lstStyle/>
          <a:p>
            <a:pPr marL="0" lvl="0" indent="0" algn="l">
              <a:lnSpc>
                <a:spcPts val="5519"/>
              </a:lnSpc>
              <a:spcBef>
                <a:spcPct val="0"/>
              </a:spcBef>
            </a:pPr>
            <a:r>
              <a:rPr lang="en-US" sz="3999" b="1" spc="391">
                <a:solidFill>
                  <a:srgbClr val="231F20"/>
                </a:solidFill>
                <a:latin typeface="DM Sans Bold"/>
                <a:ea typeface="DM Sans Bold"/>
                <a:cs typeface="DM Sans Bold"/>
                <a:sym typeface="DM Sans Bold"/>
              </a:rPr>
              <a:t>PROBLEM STATEMENT</a:t>
            </a:r>
          </a:p>
        </p:txBody>
      </p:sp>
      <p:sp>
        <p:nvSpPr>
          <p:cNvPr id="18" name="TextBox 18"/>
          <p:cNvSpPr txBox="1"/>
          <p:nvPr/>
        </p:nvSpPr>
        <p:spPr>
          <a:xfrm>
            <a:off x="6616955" y="7446417"/>
            <a:ext cx="6076629" cy="680085"/>
          </a:xfrm>
          <a:prstGeom prst="rect">
            <a:avLst/>
          </a:prstGeom>
        </p:spPr>
        <p:txBody>
          <a:bodyPr lIns="0" tIns="0" rIns="0" bIns="0" rtlCol="0" anchor="t">
            <a:spAutoFit/>
          </a:bodyPr>
          <a:lstStyle/>
          <a:p>
            <a:pPr marL="0" lvl="0" indent="0" algn="l">
              <a:lnSpc>
                <a:spcPts val="5519"/>
              </a:lnSpc>
              <a:spcBef>
                <a:spcPct val="0"/>
              </a:spcBef>
            </a:pPr>
            <a:r>
              <a:rPr lang="en-US" sz="3999" b="1" spc="391">
                <a:solidFill>
                  <a:srgbClr val="231F20"/>
                </a:solidFill>
                <a:latin typeface="DM Sans Bold"/>
                <a:ea typeface="DM Sans Bold"/>
                <a:cs typeface="DM Sans Bold"/>
                <a:sym typeface="DM Sans Bold"/>
              </a:rPr>
              <a:t>METHODOLOGY</a:t>
            </a:r>
          </a:p>
        </p:txBody>
      </p:sp>
      <p:sp>
        <p:nvSpPr>
          <p:cNvPr id="19" name="TextBox 19"/>
          <p:cNvSpPr txBox="1"/>
          <p:nvPr/>
        </p:nvSpPr>
        <p:spPr>
          <a:xfrm>
            <a:off x="6607430" y="6604407"/>
            <a:ext cx="6076629" cy="1375410"/>
          </a:xfrm>
          <a:prstGeom prst="rect">
            <a:avLst/>
          </a:prstGeom>
        </p:spPr>
        <p:txBody>
          <a:bodyPr lIns="0" tIns="0" rIns="0" bIns="0" rtlCol="0" anchor="t">
            <a:spAutoFit/>
          </a:bodyPr>
          <a:lstStyle/>
          <a:p>
            <a:pPr algn="l">
              <a:lnSpc>
                <a:spcPts val="5519"/>
              </a:lnSpc>
            </a:pPr>
            <a:r>
              <a:rPr lang="en-US" sz="3999" b="1" spc="391">
                <a:solidFill>
                  <a:srgbClr val="231F20"/>
                </a:solidFill>
                <a:latin typeface="DM Sans Bold"/>
                <a:ea typeface="DM Sans Bold"/>
                <a:cs typeface="DM Sans Bold"/>
                <a:sym typeface="DM Sans Bold"/>
              </a:rPr>
              <a:t>DATASET</a:t>
            </a:r>
          </a:p>
          <a:p>
            <a:pPr marL="0" lvl="0" indent="0" algn="l">
              <a:lnSpc>
                <a:spcPts val="5519"/>
              </a:lnSpc>
              <a:spcBef>
                <a:spcPct val="0"/>
              </a:spcBef>
            </a:pPr>
            <a:endParaRPr lang="en-US" sz="3999" b="1" spc="391">
              <a:solidFill>
                <a:srgbClr val="231F20"/>
              </a:solidFill>
              <a:latin typeface="DM Sans Bold"/>
              <a:ea typeface="DM Sans Bold"/>
              <a:cs typeface="DM Sans Bold"/>
              <a:sym typeface="DM Sans Bold"/>
            </a:endParaRPr>
          </a:p>
        </p:txBody>
      </p:sp>
      <p:sp>
        <p:nvSpPr>
          <p:cNvPr id="20" name="TextBox 20"/>
          <p:cNvSpPr txBox="1"/>
          <p:nvPr/>
        </p:nvSpPr>
        <p:spPr>
          <a:xfrm>
            <a:off x="6616955" y="5691845"/>
            <a:ext cx="5790503" cy="680085"/>
          </a:xfrm>
          <a:prstGeom prst="rect">
            <a:avLst/>
          </a:prstGeom>
        </p:spPr>
        <p:txBody>
          <a:bodyPr lIns="0" tIns="0" rIns="0" bIns="0" rtlCol="0" anchor="t">
            <a:spAutoFit/>
          </a:bodyPr>
          <a:lstStyle/>
          <a:p>
            <a:pPr marL="0" lvl="0" indent="0" algn="l">
              <a:lnSpc>
                <a:spcPts val="5519"/>
              </a:lnSpc>
              <a:spcBef>
                <a:spcPct val="0"/>
              </a:spcBef>
            </a:pPr>
            <a:r>
              <a:rPr lang="en-US" sz="3999" b="1" spc="391">
                <a:solidFill>
                  <a:srgbClr val="231F20"/>
                </a:solidFill>
                <a:latin typeface="DM Sans Bold"/>
                <a:ea typeface="DM Sans Bold"/>
                <a:cs typeface="DM Sans Bold"/>
                <a:sym typeface="DM Sans Bold"/>
              </a:rPr>
              <a:t>RANDOM FOREST</a:t>
            </a:r>
          </a:p>
        </p:txBody>
      </p:sp>
      <p:sp>
        <p:nvSpPr>
          <p:cNvPr id="21" name="TextBox 21"/>
          <p:cNvSpPr txBox="1"/>
          <p:nvPr/>
        </p:nvSpPr>
        <p:spPr>
          <a:xfrm>
            <a:off x="6607430" y="8241165"/>
            <a:ext cx="7746613" cy="680085"/>
          </a:xfrm>
          <a:prstGeom prst="rect">
            <a:avLst/>
          </a:prstGeom>
        </p:spPr>
        <p:txBody>
          <a:bodyPr lIns="0" tIns="0" rIns="0" bIns="0" rtlCol="0" anchor="t">
            <a:spAutoFit/>
          </a:bodyPr>
          <a:lstStyle/>
          <a:p>
            <a:pPr marL="0" lvl="0" indent="0" algn="l">
              <a:lnSpc>
                <a:spcPts val="5519"/>
              </a:lnSpc>
              <a:spcBef>
                <a:spcPct val="0"/>
              </a:spcBef>
            </a:pPr>
            <a:r>
              <a:rPr lang="en-US" sz="3999" b="1" spc="391">
                <a:solidFill>
                  <a:srgbClr val="231F20"/>
                </a:solidFill>
                <a:latin typeface="DM Sans Bold"/>
                <a:ea typeface="DM Sans Bold"/>
                <a:cs typeface="DM Sans Bold"/>
                <a:sym typeface="DM Sans Bold"/>
              </a:rPr>
              <a:t>MATHS BEHIND CHATBOT</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642239" y="110780"/>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INTRODUCTION</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175360" y="1371600"/>
            <a:ext cx="16862947" cy="7978723"/>
          </a:xfrm>
          <a:prstGeom prst="rect">
            <a:avLst/>
          </a:prstGeom>
        </p:spPr>
        <p:txBody>
          <a:bodyPr lIns="0" tIns="0" rIns="0" bIns="0" rtlCol="0" anchor="t">
            <a:spAutoFit/>
          </a:bodyPr>
          <a:lstStyle/>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In today’s data-driven world, sentiment analysis has become essential for businesses to capture and respond to customer feedback. By analyzing product reviews, companies can gain a clearer understanding of customer satisfaction.</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This project addresses these needs by creating a sentiment analysis chatbot that classifies customer reviews into positive, neutral, or negative sentiments.</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The backbone of the chatbot’s sentiment analysis is a Random Forest classifier, a powerful machine learning algorithm that combines multiple decision trees in an ensemble approach. </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To make the chatbot engaging and easy to use, a </a:t>
            </a:r>
            <a:r>
              <a:rPr lang="en-US" sz="3000" err="1">
                <a:solidFill>
                  <a:srgbClr val="231F20"/>
                </a:solidFill>
                <a:latin typeface="Open Sauce"/>
                <a:ea typeface="Open Sauce"/>
                <a:cs typeface="Open Sauce"/>
                <a:sym typeface="Open Sauce"/>
              </a:rPr>
              <a:t>Tkinter</a:t>
            </a:r>
            <a:r>
              <a:rPr lang="en-US" sz="3000">
                <a:solidFill>
                  <a:srgbClr val="231F20"/>
                </a:solidFill>
                <a:latin typeface="Open Sauce"/>
                <a:ea typeface="Open Sauce"/>
                <a:cs typeface="Open Sauce"/>
                <a:sym typeface="Open Sauce"/>
              </a:rPr>
              <a:t> graphical user interface (GUI) is integrated, offering a clean and approachable environment where users can effortlessly input their reviews and receive personalized feedback.</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By combining sentiment analysis with an interactive GUI, this chatbot becomes a valuable tool</a:t>
            </a:r>
          </a:p>
          <a:p>
            <a:pPr algn="l">
              <a:lnSpc>
                <a:spcPts val="3900"/>
              </a:lnSpc>
            </a:pPr>
            <a:endParaRPr lang="en-US" sz="3000">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642239" y="110780"/>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PROBLEM STATEMENT</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028700" y="2319655"/>
            <a:ext cx="16862947" cy="6807835"/>
          </a:xfrm>
          <a:prstGeom prst="rect">
            <a:avLst/>
          </a:prstGeom>
        </p:spPr>
        <p:txBody>
          <a:bodyPr lIns="0" tIns="0" rIns="0" bIns="0" rtlCol="0" anchor="t">
            <a:spAutoFit/>
          </a:bodyPr>
          <a:lstStyle/>
          <a:p>
            <a:pPr marL="690879" lvl="1" indent="-345439" algn="l">
              <a:lnSpc>
                <a:spcPts val="4159"/>
              </a:lnSpc>
              <a:buFont typeface="Arial"/>
              <a:buChar char="•"/>
            </a:pPr>
            <a:r>
              <a:rPr lang="en-US" sz="3199">
                <a:solidFill>
                  <a:srgbClr val="231F20"/>
                </a:solidFill>
                <a:latin typeface="Open Sauce"/>
                <a:ea typeface="Open Sauce"/>
                <a:cs typeface="Open Sauce"/>
                <a:sym typeface="Open Sauce"/>
              </a:rPr>
              <a:t>In today’s digital age, businesses and organizations receive vast amounts of feedback from customers in the form of reviews, comments, and social media posts. </a:t>
            </a:r>
          </a:p>
          <a:p>
            <a:pPr algn="l">
              <a:lnSpc>
                <a:spcPts val="4159"/>
              </a:lnSpc>
            </a:pPr>
            <a:endParaRPr lang="en-US" sz="3199">
              <a:solidFill>
                <a:srgbClr val="231F20"/>
              </a:solidFill>
              <a:latin typeface="Open Sauce"/>
              <a:ea typeface="Open Sauce"/>
              <a:cs typeface="Open Sauce"/>
              <a:sym typeface="Open Sauce"/>
            </a:endParaRPr>
          </a:p>
          <a:p>
            <a:pPr marL="690879" lvl="1" indent="-345439" algn="l">
              <a:lnSpc>
                <a:spcPts val="4159"/>
              </a:lnSpc>
              <a:buFont typeface="Arial"/>
              <a:buChar char="•"/>
            </a:pPr>
            <a:r>
              <a:rPr lang="en-US" sz="3199">
                <a:solidFill>
                  <a:srgbClr val="231F20"/>
                </a:solidFill>
                <a:latin typeface="Open Sauce"/>
                <a:ea typeface="Open Sauce"/>
                <a:cs typeface="Open Sauce"/>
                <a:sym typeface="Open Sauce"/>
              </a:rPr>
              <a:t>Understanding the sentiment behind this feedback is critical for improving products, services, and customer satisfaction.</a:t>
            </a:r>
          </a:p>
          <a:p>
            <a:pPr algn="l">
              <a:lnSpc>
                <a:spcPts val="4159"/>
              </a:lnSpc>
            </a:pPr>
            <a:endParaRPr lang="en-US" sz="3199">
              <a:solidFill>
                <a:srgbClr val="231F20"/>
              </a:solidFill>
              <a:latin typeface="Open Sauce"/>
              <a:ea typeface="Open Sauce"/>
              <a:cs typeface="Open Sauce"/>
              <a:sym typeface="Open Sauce"/>
            </a:endParaRPr>
          </a:p>
          <a:p>
            <a:pPr marL="690879" lvl="1" indent="-345439" algn="l">
              <a:lnSpc>
                <a:spcPts val="4159"/>
              </a:lnSpc>
              <a:buFont typeface="Arial"/>
              <a:buChar char="•"/>
            </a:pPr>
            <a:r>
              <a:rPr lang="en-US" sz="3199">
                <a:solidFill>
                  <a:srgbClr val="231F20"/>
                </a:solidFill>
                <a:latin typeface="Open Sauce"/>
                <a:ea typeface="Open Sauce"/>
                <a:cs typeface="Open Sauce"/>
                <a:sym typeface="Open Sauce"/>
              </a:rPr>
              <a:t>However, accurately classifying sentiments especially distinguishing neutral responses from positive or negative ones remains a challenge .</a:t>
            </a:r>
          </a:p>
          <a:p>
            <a:pPr algn="l">
              <a:lnSpc>
                <a:spcPts val="4159"/>
              </a:lnSpc>
            </a:pPr>
            <a:endParaRPr lang="en-US" sz="3199">
              <a:solidFill>
                <a:srgbClr val="231F20"/>
              </a:solidFill>
              <a:latin typeface="Open Sauce"/>
              <a:ea typeface="Open Sauce"/>
              <a:cs typeface="Open Sauce"/>
              <a:sym typeface="Open Sauce"/>
            </a:endParaRPr>
          </a:p>
          <a:p>
            <a:pPr marL="690879" lvl="1" indent="-345439" algn="l">
              <a:lnSpc>
                <a:spcPts val="4159"/>
              </a:lnSpc>
              <a:buFont typeface="Arial"/>
              <a:buChar char="•"/>
            </a:pPr>
            <a:r>
              <a:rPr lang="en-US" sz="3199">
                <a:solidFill>
                  <a:srgbClr val="231F20"/>
                </a:solidFill>
                <a:latin typeface="Open Sauce"/>
                <a:ea typeface="Open Sauce"/>
                <a:cs typeface="Open Sauce"/>
                <a:sym typeface="Open Sauce"/>
              </a:rPr>
              <a:t>The primary challenge lies in refining the model to reduce misclassifications of neutral sentiments, which are often mistaken for positive .</a:t>
            </a:r>
          </a:p>
          <a:p>
            <a:pPr algn="l">
              <a:lnSpc>
                <a:spcPts val="4159"/>
              </a:lnSpc>
            </a:pPr>
            <a:endParaRPr lang="en-US" sz="3199">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530907" y="914400"/>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OBJECTIVE</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229098" y="2943647"/>
            <a:ext cx="16862947" cy="6745116"/>
          </a:xfrm>
          <a:prstGeom prst="rect">
            <a:avLst/>
          </a:prstGeom>
        </p:spPr>
        <p:txBody>
          <a:bodyPr lIns="0" tIns="0" rIns="0" bIns="0" rtlCol="0" anchor="t">
            <a:spAutoFit/>
          </a:bodyPr>
          <a:lstStyle/>
          <a:p>
            <a:pPr marL="733425" lvl="1" indent="-366395" algn="l">
              <a:lnSpc>
                <a:spcPts val="4419"/>
              </a:lnSpc>
              <a:buFont typeface="Arial"/>
              <a:buChar char="•"/>
            </a:pPr>
            <a:r>
              <a:rPr lang="en-US" sz="3350">
                <a:solidFill>
                  <a:srgbClr val="231F20"/>
                </a:solidFill>
                <a:latin typeface="Open Sauce"/>
                <a:ea typeface="Open Sauce"/>
                <a:cs typeface="Open Sauce"/>
                <a:sym typeface="Open Sauce"/>
              </a:rPr>
              <a:t>The objective of this project is to develop a robust sentiment analysis model that accurately classifies text data into positive, negative, and neutral sentiments.</a:t>
            </a:r>
            <a:endParaRPr lang="en-US" sz="3350"/>
          </a:p>
          <a:p>
            <a:pPr algn="l">
              <a:lnSpc>
                <a:spcPts val="4419"/>
              </a:lnSpc>
            </a:pPr>
            <a:endParaRPr lang="en-US" sz="3399">
              <a:solidFill>
                <a:srgbClr val="231F20"/>
              </a:solidFill>
              <a:latin typeface="Open Sauce"/>
              <a:ea typeface="Open Sauce"/>
              <a:cs typeface="Open Sauce"/>
              <a:sym typeface="Open Sauce"/>
            </a:endParaRPr>
          </a:p>
          <a:p>
            <a:pPr marL="733425" lvl="1" indent="-366395" algn="l">
              <a:lnSpc>
                <a:spcPts val="4419"/>
              </a:lnSpc>
              <a:buFont typeface="Arial"/>
              <a:buChar char="•"/>
            </a:pPr>
            <a:r>
              <a:rPr lang="en-US" sz="3350">
                <a:solidFill>
                  <a:srgbClr val="231F20"/>
                </a:solidFill>
                <a:latin typeface="Open Sauce"/>
                <a:ea typeface="Open Sauce"/>
                <a:cs typeface="Open Sauce"/>
                <a:sym typeface="Open Sauce"/>
              </a:rPr>
              <a:t> We are using the Random Forest algorithm due to its effectiveness in handling complex data , which helps in identifying the most influential words or phrases contributing to each sentiment.</a:t>
            </a:r>
            <a:endParaRPr lang="en-US" sz="3350">
              <a:solidFill>
                <a:srgbClr val="231F20"/>
              </a:solidFill>
              <a:latin typeface="Open Sauce"/>
              <a:ea typeface="Open Sauce"/>
              <a:cs typeface="Open Sauce"/>
            </a:endParaRPr>
          </a:p>
          <a:p>
            <a:pPr algn="l">
              <a:lnSpc>
                <a:spcPts val="4419"/>
              </a:lnSpc>
            </a:pPr>
            <a:endParaRPr lang="en-US" sz="3399">
              <a:solidFill>
                <a:srgbClr val="231F20"/>
              </a:solidFill>
              <a:latin typeface="Open Sauce"/>
              <a:ea typeface="Open Sauce"/>
              <a:cs typeface="Open Sauce"/>
              <a:sym typeface="Open Sauce"/>
            </a:endParaRPr>
          </a:p>
          <a:p>
            <a:pPr marL="733425" lvl="1" indent="-366395">
              <a:lnSpc>
                <a:spcPts val="4419"/>
              </a:lnSpc>
              <a:buFont typeface="Arial"/>
              <a:buChar char="•"/>
            </a:pPr>
            <a:r>
              <a:rPr lang="en-US" sz="3350">
                <a:solidFill>
                  <a:srgbClr val="231F20"/>
                </a:solidFill>
                <a:latin typeface="Open Sauce"/>
                <a:ea typeface="Open Sauce"/>
                <a:cs typeface="Open Sauce"/>
                <a:sym typeface="Open Sauce"/>
              </a:rPr>
              <a:t>To achieve this, the project incorporates comprehensive  preprocessing techniques which prepare the data for meaningful analysis. </a:t>
            </a:r>
            <a:endParaRPr lang="en-US" sz="3350">
              <a:solidFill>
                <a:srgbClr val="231F20"/>
              </a:solidFill>
              <a:latin typeface="Open Sauce"/>
              <a:ea typeface="Open Sauce"/>
              <a:cs typeface="Open Sauce"/>
            </a:endParaRPr>
          </a:p>
          <a:p>
            <a:pPr algn="l">
              <a:lnSpc>
                <a:spcPts val="4419"/>
              </a:lnSpc>
            </a:pPr>
            <a:endParaRPr lang="en-US" sz="3399">
              <a:solidFill>
                <a:srgbClr val="231F20"/>
              </a:solidFill>
              <a:latin typeface="Open Sauce"/>
              <a:ea typeface="Open Sauce"/>
              <a:cs typeface="Open Sauce"/>
              <a:sym typeface="Open Sauce"/>
            </a:endParaRPr>
          </a:p>
          <a:p>
            <a:pPr algn="l">
              <a:lnSpc>
                <a:spcPts val="4419"/>
              </a:lnSpc>
            </a:pPr>
            <a:endParaRPr lang="en-US" sz="3399">
              <a:solidFill>
                <a:srgbClr val="231F20"/>
              </a:solidFill>
              <a:latin typeface="Open Sauce"/>
              <a:ea typeface="Open Sauce"/>
              <a:cs typeface="Open Sauce"/>
              <a:sym typeface="Open Sauce"/>
            </a:endParaRPr>
          </a:p>
          <a:p>
            <a:pPr algn="l">
              <a:lnSpc>
                <a:spcPts val="4419"/>
              </a:lnSpc>
            </a:pPr>
            <a:endParaRPr lang="en-US" sz="3399">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530907" y="914400"/>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DATASET</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229098" y="2943647"/>
            <a:ext cx="16862947" cy="4953000"/>
          </a:xfrm>
          <a:prstGeom prst="rect">
            <a:avLst/>
          </a:prstGeom>
        </p:spPr>
        <p:txBody>
          <a:bodyPr lIns="0" tIns="0" rIns="0" bIns="0" rtlCol="0" anchor="t">
            <a:spAutoFit/>
          </a:bodyPr>
          <a:lstStyle/>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The dataset contains 10,000 entries and 2 columns. </a:t>
            </a: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Columns:</a:t>
            </a:r>
            <a:endParaRPr lang="en-US" sz="3000">
              <a:solidFill>
                <a:srgbClr val="231F20"/>
              </a:solidFill>
              <a:latin typeface="Open Sauce"/>
              <a:ea typeface="Open Sauce"/>
              <a:cs typeface="Open Sauce"/>
            </a:endParaRPr>
          </a:p>
          <a:p>
            <a:pPr marL="323850" lvl="1">
              <a:lnSpc>
                <a:spcPts val="3900"/>
              </a:lnSpc>
            </a:pPr>
            <a:r>
              <a:rPr lang="en-US" sz="3000">
                <a:solidFill>
                  <a:srgbClr val="231F20"/>
                </a:solidFill>
                <a:latin typeface="Open Sauce"/>
                <a:ea typeface="Open Sauce"/>
                <a:cs typeface="Open Sauce"/>
                <a:sym typeface="Open Sauce"/>
              </a:rPr>
              <a:t>    An integer rating (e.g., 1-5), indicating the user's rating for a product.</a:t>
            </a:r>
            <a:endParaRPr lang="en-US" sz="3000">
              <a:solidFill>
                <a:srgbClr val="231F20"/>
              </a:solidFill>
              <a:latin typeface="Open Sauce"/>
              <a:ea typeface="Open Sauce"/>
              <a:cs typeface="Open Sauce"/>
            </a:endParaRPr>
          </a:p>
          <a:p>
            <a:pPr marL="323850" lvl="1">
              <a:lnSpc>
                <a:spcPts val="3900"/>
              </a:lnSpc>
            </a:pPr>
            <a:r>
              <a:rPr lang="en-US" sz="3000">
                <a:solidFill>
                  <a:srgbClr val="231F20"/>
                </a:solidFill>
                <a:latin typeface="Open Sauce"/>
                <a:ea typeface="Open Sauce"/>
                <a:cs typeface="Open Sauce"/>
                <a:sym typeface="Open Sauce"/>
              </a:rPr>
              <a:t>    ReviewText: Text containing the user's review of the product.</a:t>
            </a:r>
            <a:endParaRPr lang="en-US" sz="3000">
              <a:solidFill>
                <a:srgbClr val="231F20"/>
              </a:solidFill>
              <a:latin typeface="Open Sauce"/>
              <a:ea typeface="Open Sauce"/>
              <a:cs typeface="Open Sauce"/>
            </a:endParaRPr>
          </a:p>
          <a:p>
            <a:pPr marL="647700" lvl="1" indent="-323850" algn="l">
              <a:lnSpc>
                <a:spcPts val="3900"/>
              </a:lnSpc>
              <a:buFont typeface="Arial"/>
              <a:buChar char="•"/>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 Missing Values</a:t>
            </a:r>
            <a:endParaRPr lang="en-US" sz="3000">
              <a:solidFill>
                <a:srgbClr val="231F20"/>
              </a:solidFill>
              <a:latin typeface="Open Sauce"/>
              <a:ea typeface="Open Sauce"/>
              <a:cs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 column has a few missing values (6 out of 10,000).</a:t>
            </a:r>
            <a:endParaRPr lang="en-US" sz="3000">
              <a:solidFill>
                <a:srgbClr val="231F20"/>
              </a:solidFill>
              <a:latin typeface="Open Sauce"/>
              <a:ea typeface="Open Sauce"/>
              <a:cs typeface="Open Sauce"/>
            </a:endParaRPr>
          </a:p>
          <a:p>
            <a:pPr marL="647700" lvl="1" indent="-323850" algn="l">
              <a:lnSpc>
                <a:spcPts val="3900"/>
              </a:lnSpc>
              <a:buFont typeface="Arial"/>
              <a:buChar char="•"/>
            </a:pPr>
            <a:r>
              <a:rPr lang="en-US" sz="3000">
                <a:solidFill>
                  <a:srgbClr val="231F20"/>
                </a:solidFill>
                <a:latin typeface="Open Sauce"/>
                <a:ea typeface="Open Sauce"/>
                <a:cs typeface="Open Sauce"/>
                <a:sym typeface="Open Sauce"/>
              </a:rPr>
              <a:t>dataset is suitable for sentiment analysis using the overall rating as a proxy for sentiment and </a:t>
            </a:r>
            <a:r>
              <a:rPr lang="en-US" sz="3000" err="1">
                <a:solidFill>
                  <a:srgbClr val="231F20"/>
                </a:solidFill>
                <a:latin typeface="Open Sauce"/>
                <a:ea typeface="Open Sauce"/>
                <a:cs typeface="Open Sauce"/>
                <a:sym typeface="Open Sauce"/>
              </a:rPr>
              <a:t>reviewText</a:t>
            </a:r>
            <a:r>
              <a:rPr lang="en-US" sz="3000">
                <a:solidFill>
                  <a:srgbClr val="231F20"/>
                </a:solidFill>
                <a:latin typeface="Open Sauce"/>
                <a:ea typeface="Open Sauce"/>
                <a:cs typeface="Open Sauce"/>
                <a:sym typeface="Open Sauce"/>
              </a:rPr>
              <a:t> as the input text for analysis.</a:t>
            </a:r>
            <a:endParaRPr lang="en-US" sz="3000">
              <a:solidFill>
                <a:srgbClr val="231F20"/>
              </a:solidFill>
              <a:latin typeface="Open Sauce"/>
              <a:ea typeface="Open Sauce"/>
              <a:cs typeface="Open Sauce"/>
            </a:endParaRPr>
          </a:p>
          <a:p>
            <a:pPr algn="l">
              <a:lnSpc>
                <a:spcPts val="3900"/>
              </a:lnSpc>
            </a:pPr>
            <a:endParaRPr lang="en-US" sz="3000">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753571" y="448499"/>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RANDOM FOREST</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028700" y="1828800"/>
            <a:ext cx="16862947" cy="7924800"/>
          </a:xfrm>
          <a:prstGeom prst="rect">
            <a:avLst/>
          </a:prstGeom>
        </p:spPr>
        <p:txBody>
          <a:bodyPr lIns="0" tIns="0" rIns="0" bIns="0" rtlCol="0" anchor="t">
            <a:spAutoFit/>
          </a:bodyPr>
          <a:lstStyle/>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Ensemble Method</a:t>
            </a:r>
            <a:r>
              <a:rPr lang="en-US" sz="3000">
                <a:solidFill>
                  <a:srgbClr val="231F20"/>
                </a:solidFill>
                <a:latin typeface="Open Sauce"/>
                <a:ea typeface="Open Sauce"/>
                <a:cs typeface="Open Sauce"/>
                <a:sym typeface="Open Sauce"/>
              </a:rPr>
              <a:t>: Combines multiple decision trees to improve prediction accuracy and reduce overfitting.</a:t>
            </a: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Voting System:</a:t>
            </a:r>
            <a:r>
              <a:rPr lang="en-US" sz="3000">
                <a:solidFill>
                  <a:srgbClr val="231F20"/>
                </a:solidFill>
                <a:latin typeface="Open Sauce"/>
                <a:ea typeface="Open Sauce"/>
                <a:cs typeface="Open Sauce"/>
                <a:sym typeface="Open Sauce"/>
              </a:rPr>
              <a:t> Each tree predicts, and final sentiment is based on majority vote.</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TF-IDF Transformation:</a:t>
            </a:r>
            <a:r>
              <a:rPr lang="en-US" sz="3000">
                <a:solidFill>
                  <a:srgbClr val="231F20"/>
                </a:solidFill>
                <a:latin typeface="Open Sauce"/>
                <a:ea typeface="Open Sauce"/>
                <a:cs typeface="Open Sauce"/>
                <a:sym typeface="Open Sauce"/>
              </a:rPr>
              <a:t> Converts text to numerical form, highlighting important words.</a:t>
            </a: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Class Weight Balancing: </a:t>
            </a:r>
            <a:r>
              <a:rPr lang="en-US" sz="3000">
                <a:solidFill>
                  <a:srgbClr val="231F20"/>
                </a:solidFill>
                <a:latin typeface="Open Sauce"/>
                <a:ea typeface="Open Sauce"/>
                <a:cs typeface="Open Sauce"/>
                <a:sym typeface="Open Sauce"/>
              </a:rPr>
              <a:t>Ensures fair sentiment representation.</a:t>
            </a: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Result:</a:t>
            </a:r>
            <a:r>
              <a:rPr lang="en-US" sz="3000">
                <a:solidFill>
                  <a:srgbClr val="231F20"/>
                </a:solidFill>
                <a:latin typeface="Open Sauce"/>
                <a:ea typeface="Open Sauce"/>
                <a:cs typeface="Open Sauce"/>
                <a:sym typeface="Open Sauce"/>
              </a:rPr>
              <a:t> Achieved an accuracy of 80%</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High Accuracy:</a:t>
            </a:r>
            <a:r>
              <a:rPr lang="en-US" sz="3000">
                <a:solidFill>
                  <a:srgbClr val="231F20"/>
                </a:solidFill>
                <a:latin typeface="Open Sauce"/>
                <a:ea typeface="Open Sauce"/>
                <a:cs typeface="Open Sauce"/>
                <a:sym typeface="Open Sauce"/>
              </a:rPr>
              <a:t> Effective with complex text data.</a:t>
            </a: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Robustness:</a:t>
            </a:r>
            <a:r>
              <a:rPr lang="en-US" sz="3000">
                <a:solidFill>
                  <a:srgbClr val="231F20"/>
                </a:solidFill>
                <a:latin typeface="Open Sauce"/>
                <a:ea typeface="Open Sauce"/>
                <a:cs typeface="Open Sauce"/>
                <a:sym typeface="Open Sauce"/>
              </a:rPr>
              <a:t> Handles noisy data and text nuances.</a:t>
            </a: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Feature Selection:</a:t>
            </a:r>
            <a:r>
              <a:rPr lang="en-US" sz="3000">
                <a:solidFill>
                  <a:srgbClr val="231F20"/>
                </a:solidFill>
                <a:latin typeface="Open Sauce"/>
                <a:ea typeface="Open Sauce"/>
                <a:cs typeface="Open Sauce"/>
                <a:sym typeface="Open Sauce"/>
              </a:rPr>
              <a:t> Highlights important words automatically.</a:t>
            </a:r>
          </a:p>
          <a:p>
            <a:pPr algn="l">
              <a:lnSpc>
                <a:spcPts val="3900"/>
              </a:lnSpc>
            </a:pPr>
            <a:endParaRPr lang="en-US" sz="3000">
              <a:solidFill>
                <a:srgbClr val="231F20"/>
              </a:solidFill>
              <a:latin typeface="Open Sauce"/>
              <a:ea typeface="Open Sauce"/>
              <a:cs typeface="Open Sauce"/>
              <a:sym typeface="Open Sauce"/>
            </a:endParaRP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Pipeline</a:t>
            </a:r>
            <a:r>
              <a:rPr lang="en-US" sz="3000">
                <a:solidFill>
                  <a:srgbClr val="231F20"/>
                </a:solidFill>
                <a:latin typeface="Open Sauce"/>
                <a:ea typeface="Open Sauce"/>
                <a:cs typeface="Open Sauce"/>
                <a:sym typeface="Open Sauce"/>
              </a:rPr>
              <a:t>: Used TfidfVectorizer + RandomForestClassifier.</a:t>
            </a: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Hyperparameter Tuning:</a:t>
            </a:r>
            <a:r>
              <a:rPr lang="en-US" sz="3000">
                <a:solidFill>
                  <a:srgbClr val="231F20"/>
                </a:solidFill>
                <a:latin typeface="Open Sauce"/>
                <a:ea typeface="Open Sauce"/>
                <a:cs typeface="Open Sauce"/>
                <a:sym typeface="Open Sauce"/>
              </a:rPr>
              <a:t> Parameters like tree count and max features can be optimized.</a:t>
            </a:r>
          </a:p>
          <a:p>
            <a:pPr algn="l">
              <a:lnSpc>
                <a:spcPts val="3900"/>
              </a:lnSpc>
            </a:pPr>
            <a:endParaRPr lang="en-US" sz="3000">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FE6B0-682C-B862-303A-55DD412956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06099C-5AB2-A658-5E55-7B3B18F01622}"/>
              </a:ext>
            </a:extLst>
          </p:cNvPr>
          <p:cNvSpPr/>
          <p:nvPr/>
        </p:nvSpPr>
        <p:spPr>
          <a:xfrm flipH="1" flipV="1">
            <a:off x="-152400" y="-19050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p:spPr>
        <p:style>
          <a:lnRef idx="2">
            <a:schemeClr val="dk1"/>
          </a:lnRef>
          <a:fillRef idx="1">
            <a:schemeClr val="lt1"/>
          </a:fillRef>
          <a:effectRef idx="0">
            <a:schemeClr val="dk1"/>
          </a:effectRef>
          <a:fontRef idx="minor">
            <a:schemeClr val="dk1"/>
          </a:fontRef>
        </p:style>
      </p:sp>
      <p:sp>
        <p:nvSpPr>
          <p:cNvPr id="3" name="TextBox 3">
            <a:extLst>
              <a:ext uri="{FF2B5EF4-FFF2-40B4-BE49-F238E27FC236}">
                <a16:creationId xmlns:a16="http://schemas.microsoft.com/office/drawing/2014/main" id="{8B373E3D-DC59-7D04-3102-BED4831EA09E}"/>
              </a:ext>
            </a:extLst>
          </p:cNvPr>
          <p:cNvSpPr txBox="1"/>
          <p:nvPr/>
        </p:nvSpPr>
        <p:spPr>
          <a:xfrm>
            <a:off x="2753571" y="448499"/>
            <a:ext cx="11552977" cy="1166783"/>
          </a:xfrm>
          <a:prstGeom prst="rect">
            <a:avLst/>
          </a:prstGeom>
        </p:spPr>
        <p:txBody>
          <a:bodyPr lIns="0" tIns="0" rIns="0" bIns="0" rtlCol="0" anchor="t">
            <a:spAutoFit/>
          </a:bodyPr>
          <a:lstStyle/>
          <a:p>
            <a:pPr algn="ctr">
              <a:lnSpc>
                <a:spcPts val="9587"/>
              </a:lnSpc>
            </a:pPr>
            <a:r>
              <a:rPr lang="en-US" sz="6947" b="1" spc="368" dirty="0">
                <a:solidFill>
                  <a:srgbClr val="231F20"/>
                </a:solidFill>
                <a:latin typeface="Oswald Bold"/>
                <a:ea typeface="Oswald Bold"/>
                <a:cs typeface="Oswald Bold"/>
                <a:sym typeface="Oswald Bold"/>
              </a:rPr>
              <a:t>DECISION TREE</a:t>
            </a:r>
          </a:p>
        </p:txBody>
      </p:sp>
      <p:sp>
        <p:nvSpPr>
          <p:cNvPr id="4" name="Freeform 4">
            <a:extLst>
              <a:ext uri="{FF2B5EF4-FFF2-40B4-BE49-F238E27FC236}">
                <a16:creationId xmlns:a16="http://schemas.microsoft.com/office/drawing/2014/main" id="{EF39B28E-2A9C-7D8D-A3D3-EEF071E4B8FD}"/>
              </a:ext>
            </a:extLst>
          </p:cNvPr>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2433BABC-9AE2-B2A9-421C-DE516D9CD844}"/>
              </a:ext>
            </a:extLst>
          </p:cNvPr>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EE257077-63D7-BFA4-55AB-16F5863CC40D}"/>
              </a:ext>
            </a:extLst>
          </p:cNvPr>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a:extLst>
              <a:ext uri="{FF2B5EF4-FFF2-40B4-BE49-F238E27FC236}">
                <a16:creationId xmlns:a16="http://schemas.microsoft.com/office/drawing/2014/main" id="{6885FD7B-8974-ACE2-6830-095410D406F2}"/>
              </a:ext>
            </a:extLst>
          </p:cNvPr>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9" name="Flowchart: Connector 8">
            <a:extLst>
              <a:ext uri="{FF2B5EF4-FFF2-40B4-BE49-F238E27FC236}">
                <a16:creationId xmlns:a16="http://schemas.microsoft.com/office/drawing/2014/main" id="{962C767A-3774-5092-19A1-0A86971B21F1}"/>
              </a:ext>
            </a:extLst>
          </p:cNvPr>
          <p:cNvSpPr/>
          <p:nvPr/>
        </p:nvSpPr>
        <p:spPr>
          <a:xfrm>
            <a:off x="12954000" y="1439543"/>
            <a:ext cx="1827078" cy="1389999"/>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Fantastic</a:t>
            </a:r>
          </a:p>
        </p:txBody>
      </p:sp>
      <p:sp>
        <p:nvSpPr>
          <p:cNvPr id="10" name="Flowchart: Connector 9">
            <a:extLst>
              <a:ext uri="{FF2B5EF4-FFF2-40B4-BE49-F238E27FC236}">
                <a16:creationId xmlns:a16="http://schemas.microsoft.com/office/drawing/2014/main" id="{0908CAE2-1953-6F47-82E5-6BF7B92A2447}"/>
              </a:ext>
            </a:extLst>
          </p:cNvPr>
          <p:cNvSpPr/>
          <p:nvPr/>
        </p:nvSpPr>
        <p:spPr>
          <a:xfrm>
            <a:off x="14314043" y="3777520"/>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good</a:t>
            </a:r>
          </a:p>
        </p:txBody>
      </p:sp>
      <p:sp>
        <p:nvSpPr>
          <p:cNvPr id="11" name="Flowchart: Connector 10">
            <a:extLst>
              <a:ext uri="{FF2B5EF4-FFF2-40B4-BE49-F238E27FC236}">
                <a16:creationId xmlns:a16="http://schemas.microsoft.com/office/drawing/2014/main" id="{AC98E257-15DD-13D7-2374-165B352858AB}"/>
              </a:ext>
            </a:extLst>
          </p:cNvPr>
          <p:cNvSpPr/>
          <p:nvPr/>
        </p:nvSpPr>
        <p:spPr>
          <a:xfrm>
            <a:off x="11567651" y="3597423"/>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terrible</a:t>
            </a:r>
          </a:p>
        </p:txBody>
      </p:sp>
      <p:sp>
        <p:nvSpPr>
          <p:cNvPr id="12" name="Flowchart: Connector 11">
            <a:extLst>
              <a:ext uri="{FF2B5EF4-FFF2-40B4-BE49-F238E27FC236}">
                <a16:creationId xmlns:a16="http://schemas.microsoft.com/office/drawing/2014/main" id="{F35F3E61-85DB-68E1-6C90-FC747091F2A9}"/>
              </a:ext>
            </a:extLst>
          </p:cNvPr>
          <p:cNvSpPr/>
          <p:nvPr/>
        </p:nvSpPr>
        <p:spPr>
          <a:xfrm>
            <a:off x="12982731" y="6077336"/>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okay</a:t>
            </a:r>
          </a:p>
        </p:txBody>
      </p:sp>
      <p:sp>
        <p:nvSpPr>
          <p:cNvPr id="13" name="Flowchart: Connector 12">
            <a:extLst>
              <a:ext uri="{FF2B5EF4-FFF2-40B4-BE49-F238E27FC236}">
                <a16:creationId xmlns:a16="http://schemas.microsoft.com/office/drawing/2014/main" id="{C27D701B-E788-BF5D-9D81-D40AD4F3AA20}"/>
              </a:ext>
            </a:extLst>
          </p:cNvPr>
          <p:cNvSpPr/>
          <p:nvPr/>
        </p:nvSpPr>
        <p:spPr>
          <a:xfrm>
            <a:off x="15793220" y="6194877"/>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better</a:t>
            </a:r>
          </a:p>
        </p:txBody>
      </p:sp>
      <p:cxnSp>
        <p:nvCxnSpPr>
          <p:cNvPr id="16" name="Straight Arrow Connector 15">
            <a:extLst>
              <a:ext uri="{FF2B5EF4-FFF2-40B4-BE49-F238E27FC236}">
                <a16:creationId xmlns:a16="http://schemas.microsoft.com/office/drawing/2014/main" id="{40E28891-78C4-39B1-581F-4C5A64FEF7AD}"/>
              </a:ext>
            </a:extLst>
          </p:cNvPr>
          <p:cNvCxnSpPr>
            <a:cxnSpLocks/>
          </p:cNvCxnSpPr>
          <p:nvPr/>
        </p:nvCxnSpPr>
        <p:spPr>
          <a:xfrm flipH="1">
            <a:off x="12572570" y="2606326"/>
            <a:ext cx="762861" cy="9910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94978F11-CDDA-C366-985C-C430C5B292B1}"/>
              </a:ext>
            </a:extLst>
          </p:cNvPr>
          <p:cNvCxnSpPr>
            <a:cxnSpLocks/>
          </p:cNvCxnSpPr>
          <p:nvPr/>
        </p:nvCxnSpPr>
        <p:spPr>
          <a:xfrm>
            <a:off x="14281279" y="2606326"/>
            <a:ext cx="579874" cy="12068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14B41DE3-7292-A466-60B8-9F32CEB5EF3C}"/>
              </a:ext>
            </a:extLst>
          </p:cNvPr>
          <p:cNvCxnSpPr>
            <a:cxnSpLocks/>
          </p:cNvCxnSpPr>
          <p:nvPr/>
        </p:nvCxnSpPr>
        <p:spPr>
          <a:xfrm>
            <a:off x="15791592" y="4987986"/>
            <a:ext cx="579874" cy="12068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19CF335C-4DF0-F08A-8628-74F29A532445}"/>
              </a:ext>
            </a:extLst>
          </p:cNvPr>
          <p:cNvCxnSpPr>
            <a:cxnSpLocks/>
          </p:cNvCxnSpPr>
          <p:nvPr/>
        </p:nvCxnSpPr>
        <p:spPr>
          <a:xfrm flipH="1">
            <a:off x="13952299" y="5050049"/>
            <a:ext cx="762861" cy="9910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2A013F50-EE67-EE3C-F14A-79A863F5D31A}"/>
              </a:ext>
            </a:extLst>
          </p:cNvPr>
          <p:cNvSpPr txBox="1"/>
          <p:nvPr/>
        </p:nvSpPr>
        <p:spPr>
          <a:xfrm>
            <a:off x="1379565" y="4129571"/>
            <a:ext cx="10366727" cy="4524315"/>
          </a:xfrm>
          <a:prstGeom prst="rect">
            <a:avLst/>
          </a:prstGeom>
          <a:noFill/>
        </p:spPr>
        <p:txBody>
          <a:bodyPr wrap="square" rtlCol="0">
            <a:spAutoFit/>
          </a:bodyPr>
          <a:lstStyle/>
          <a:p>
            <a:r>
              <a:rPr lang="en-IN" sz="4800" dirty="0"/>
              <a:t>The product is </a:t>
            </a:r>
            <a:r>
              <a:rPr lang="en-IN" sz="4800" dirty="0">
                <a:solidFill>
                  <a:srgbClr val="00B050"/>
                </a:solidFill>
              </a:rPr>
              <a:t>fantastic</a:t>
            </a:r>
            <a:r>
              <a:rPr lang="en-IN" sz="4800" dirty="0"/>
              <a:t>!!</a:t>
            </a:r>
            <a:br>
              <a:rPr lang="en-IN" sz="4800" dirty="0"/>
            </a:br>
            <a:r>
              <a:rPr lang="en-IN" sz="4800" dirty="0"/>
              <a:t>The product is </a:t>
            </a:r>
            <a:r>
              <a:rPr lang="en-IN" sz="4800" dirty="0">
                <a:solidFill>
                  <a:srgbClr val="00B050"/>
                </a:solidFill>
              </a:rPr>
              <a:t>good</a:t>
            </a:r>
            <a:br>
              <a:rPr lang="en-IN" sz="4800" dirty="0"/>
            </a:br>
            <a:r>
              <a:rPr lang="en-IN" sz="4800" dirty="0">
                <a:solidFill>
                  <a:srgbClr val="FF0000"/>
                </a:solidFill>
              </a:rPr>
              <a:t>Terrible</a:t>
            </a:r>
            <a:r>
              <a:rPr lang="en-IN" sz="4800" dirty="0"/>
              <a:t> product, can’t use it</a:t>
            </a:r>
            <a:br>
              <a:rPr lang="en-IN" sz="4800" dirty="0"/>
            </a:br>
            <a:r>
              <a:rPr lang="en-IN" sz="4800" dirty="0" err="1"/>
              <a:t>It</a:t>
            </a:r>
            <a:r>
              <a:rPr lang="en-IN" sz="4800" dirty="0"/>
              <a:t> is </a:t>
            </a:r>
            <a:r>
              <a:rPr lang="en-IN" sz="4800" dirty="0">
                <a:solidFill>
                  <a:srgbClr val="00B0F0"/>
                </a:solidFill>
              </a:rPr>
              <a:t>better </a:t>
            </a:r>
            <a:r>
              <a:rPr lang="en-IN" sz="4800" dirty="0"/>
              <a:t>but can improve the quality</a:t>
            </a:r>
            <a:br>
              <a:rPr lang="en-IN" sz="4800" dirty="0"/>
            </a:br>
            <a:r>
              <a:rPr lang="en-IN" sz="4800" dirty="0"/>
              <a:t>The product is </a:t>
            </a:r>
            <a:r>
              <a:rPr lang="en-IN" sz="4800" dirty="0">
                <a:solidFill>
                  <a:srgbClr val="00B0F0"/>
                </a:solidFill>
              </a:rPr>
              <a:t>okay</a:t>
            </a:r>
            <a:br>
              <a:rPr lang="en-IN" sz="4800" dirty="0"/>
            </a:br>
            <a:endParaRPr lang="en-IN" sz="4800" dirty="0"/>
          </a:p>
        </p:txBody>
      </p:sp>
      <p:sp>
        <p:nvSpPr>
          <p:cNvPr id="28" name="TextBox 27">
            <a:extLst>
              <a:ext uri="{FF2B5EF4-FFF2-40B4-BE49-F238E27FC236}">
                <a16:creationId xmlns:a16="http://schemas.microsoft.com/office/drawing/2014/main" id="{F63395E8-BCD1-8B24-B9A1-6E2685F426ED}"/>
              </a:ext>
            </a:extLst>
          </p:cNvPr>
          <p:cNvSpPr txBox="1"/>
          <p:nvPr/>
        </p:nvSpPr>
        <p:spPr>
          <a:xfrm>
            <a:off x="762000" y="2714904"/>
            <a:ext cx="3356179" cy="769441"/>
          </a:xfrm>
          <a:prstGeom prst="rect">
            <a:avLst/>
          </a:prstGeom>
          <a:noFill/>
        </p:spPr>
        <p:txBody>
          <a:bodyPr wrap="square" rtlCol="0">
            <a:spAutoFit/>
          </a:bodyPr>
          <a:lstStyle/>
          <a:p>
            <a:r>
              <a:rPr lang="en-IN" sz="4400" dirty="0"/>
              <a:t>Review Text:</a:t>
            </a:r>
          </a:p>
        </p:txBody>
      </p:sp>
    </p:spTree>
    <p:extLst>
      <p:ext uri="{BB962C8B-B14F-4D97-AF65-F5344CB8AC3E}">
        <p14:creationId xmlns:p14="http://schemas.microsoft.com/office/powerpoint/2010/main" val="1462645758"/>
      </p:ext>
    </p:extLst>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74B35-9234-6652-2BA8-419F1B1B463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198F0A-F3DD-ABC1-E3A4-EB2A250A230B}"/>
              </a:ext>
            </a:extLst>
          </p:cNvPr>
          <p:cNvSpPr/>
          <p:nvPr/>
        </p:nvSpPr>
        <p:spPr>
          <a:xfrm flipH="1" flipV="1">
            <a:off x="54060" y="-66301"/>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p:spPr>
        <p:style>
          <a:lnRef idx="2">
            <a:schemeClr val="dk1"/>
          </a:lnRef>
          <a:fillRef idx="1">
            <a:schemeClr val="lt1"/>
          </a:fillRef>
          <a:effectRef idx="0">
            <a:schemeClr val="dk1"/>
          </a:effectRef>
          <a:fontRef idx="minor">
            <a:schemeClr val="dk1"/>
          </a:fontRef>
        </p:style>
      </p:sp>
      <p:sp>
        <p:nvSpPr>
          <p:cNvPr id="4" name="Freeform 4">
            <a:extLst>
              <a:ext uri="{FF2B5EF4-FFF2-40B4-BE49-F238E27FC236}">
                <a16:creationId xmlns:a16="http://schemas.microsoft.com/office/drawing/2014/main" id="{8E0CD63D-F0A7-14D3-4991-331E5D209871}"/>
              </a:ext>
            </a:extLst>
          </p:cNvPr>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2EBC41A5-B879-22BD-CB27-DD608273B63D}"/>
              </a:ext>
            </a:extLst>
          </p:cNvPr>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DD2D5A55-1DAC-A93A-729D-7BAA084CC9BB}"/>
              </a:ext>
            </a:extLst>
          </p:cNvPr>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a:extLst>
              <a:ext uri="{FF2B5EF4-FFF2-40B4-BE49-F238E27FC236}">
                <a16:creationId xmlns:a16="http://schemas.microsoft.com/office/drawing/2014/main" id="{AA367204-3B87-99CF-C1F1-AD7E20BD9B13}"/>
              </a:ext>
            </a:extLst>
          </p:cNvPr>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9" name="Flowchart: Connector 8">
            <a:extLst>
              <a:ext uri="{FF2B5EF4-FFF2-40B4-BE49-F238E27FC236}">
                <a16:creationId xmlns:a16="http://schemas.microsoft.com/office/drawing/2014/main" id="{738DB26D-5516-71B3-EA52-ED8A548AC8A6}"/>
              </a:ext>
            </a:extLst>
          </p:cNvPr>
          <p:cNvSpPr/>
          <p:nvPr/>
        </p:nvSpPr>
        <p:spPr>
          <a:xfrm>
            <a:off x="12954000" y="1439543"/>
            <a:ext cx="1827078" cy="1389999"/>
          </a:xfrm>
          <a:prstGeom prst="flowChartConnector">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Fantastic</a:t>
            </a:r>
          </a:p>
        </p:txBody>
      </p:sp>
      <p:sp>
        <p:nvSpPr>
          <p:cNvPr id="10" name="Flowchart: Connector 9">
            <a:extLst>
              <a:ext uri="{FF2B5EF4-FFF2-40B4-BE49-F238E27FC236}">
                <a16:creationId xmlns:a16="http://schemas.microsoft.com/office/drawing/2014/main" id="{E4E50EA1-E1C0-9392-1EA0-FEB64CBFB1A1}"/>
              </a:ext>
            </a:extLst>
          </p:cNvPr>
          <p:cNvSpPr/>
          <p:nvPr/>
        </p:nvSpPr>
        <p:spPr>
          <a:xfrm>
            <a:off x="14314043" y="3777520"/>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good</a:t>
            </a:r>
          </a:p>
        </p:txBody>
      </p:sp>
      <p:sp>
        <p:nvSpPr>
          <p:cNvPr id="11" name="Flowchart: Connector 10">
            <a:extLst>
              <a:ext uri="{FF2B5EF4-FFF2-40B4-BE49-F238E27FC236}">
                <a16:creationId xmlns:a16="http://schemas.microsoft.com/office/drawing/2014/main" id="{FD63E80C-8B49-27D0-B844-84FDD7C39CA1}"/>
              </a:ext>
            </a:extLst>
          </p:cNvPr>
          <p:cNvSpPr/>
          <p:nvPr/>
        </p:nvSpPr>
        <p:spPr>
          <a:xfrm>
            <a:off x="11567651" y="3597423"/>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terrible</a:t>
            </a:r>
          </a:p>
        </p:txBody>
      </p:sp>
      <p:sp>
        <p:nvSpPr>
          <p:cNvPr id="12" name="Flowchart: Connector 11">
            <a:extLst>
              <a:ext uri="{FF2B5EF4-FFF2-40B4-BE49-F238E27FC236}">
                <a16:creationId xmlns:a16="http://schemas.microsoft.com/office/drawing/2014/main" id="{69C3CD57-FB7E-C3B2-53BE-E4842CAA7C04}"/>
              </a:ext>
            </a:extLst>
          </p:cNvPr>
          <p:cNvSpPr/>
          <p:nvPr/>
        </p:nvSpPr>
        <p:spPr>
          <a:xfrm>
            <a:off x="12982731" y="6077336"/>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okay</a:t>
            </a:r>
          </a:p>
        </p:txBody>
      </p:sp>
      <p:sp>
        <p:nvSpPr>
          <p:cNvPr id="13" name="Flowchart: Connector 12">
            <a:extLst>
              <a:ext uri="{FF2B5EF4-FFF2-40B4-BE49-F238E27FC236}">
                <a16:creationId xmlns:a16="http://schemas.microsoft.com/office/drawing/2014/main" id="{D73D5B98-3879-E651-CB70-679AB82EB261}"/>
              </a:ext>
            </a:extLst>
          </p:cNvPr>
          <p:cNvSpPr/>
          <p:nvPr/>
        </p:nvSpPr>
        <p:spPr>
          <a:xfrm>
            <a:off x="15793220" y="6194877"/>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better</a:t>
            </a:r>
          </a:p>
        </p:txBody>
      </p:sp>
      <p:cxnSp>
        <p:nvCxnSpPr>
          <p:cNvPr id="16" name="Straight Arrow Connector 15">
            <a:extLst>
              <a:ext uri="{FF2B5EF4-FFF2-40B4-BE49-F238E27FC236}">
                <a16:creationId xmlns:a16="http://schemas.microsoft.com/office/drawing/2014/main" id="{B40E90E7-40B9-B20E-99A6-55DD3CD5608C}"/>
              </a:ext>
            </a:extLst>
          </p:cNvPr>
          <p:cNvCxnSpPr>
            <a:cxnSpLocks/>
          </p:cNvCxnSpPr>
          <p:nvPr/>
        </p:nvCxnSpPr>
        <p:spPr>
          <a:xfrm flipH="1">
            <a:off x="12572570" y="2727446"/>
            <a:ext cx="693175" cy="86997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C7662F77-E0DF-A408-0B89-28FF25F84CF9}"/>
              </a:ext>
            </a:extLst>
          </p:cNvPr>
          <p:cNvCxnSpPr>
            <a:cxnSpLocks/>
          </p:cNvCxnSpPr>
          <p:nvPr/>
        </p:nvCxnSpPr>
        <p:spPr>
          <a:xfrm>
            <a:off x="14340350" y="2727446"/>
            <a:ext cx="520803" cy="112254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898CF4B-56CD-9480-91E8-A69EF4E76CD0}"/>
              </a:ext>
            </a:extLst>
          </p:cNvPr>
          <p:cNvCxnSpPr>
            <a:cxnSpLocks/>
          </p:cNvCxnSpPr>
          <p:nvPr/>
        </p:nvCxnSpPr>
        <p:spPr>
          <a:xfrm>
            <a:off x="15791592" y="4987986"/>
            <a:ext cx="579874" cy="12068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E4F10BE-7DFF-3B2D-06FB-679BA6EA28A5}"/>
              </a:ext>
            </a:extLst>
          </p:cNvPr>
          <p:cNvCxnSpPr>
            <a:cxnSpLocks/>
          </p:cNvCxnSpPr>
          <p:nvPr/>
        </p:nvCxnSpPr>
        <p:spPr>
          <a:xfrm flipH="1">
            <a:off x="13933348" y="5077199"/>
            <a:ext cx="762861" cy="9910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7A447273-ED64-21A6-77BB-63D7ADB26FB3}"/>
              </a:ext>
            </a:extLst>
          </p:cNvPr>
          <p:cNvSpPr txBox="1"/>
          <p:nvPr/>
        </p:nvSpPr>
        <p:spPr>
          <a:xfrm>
            <a:off x="885651" y="4126448"/>
            <a:ext cx="8404861" cy="830997"/>
          </a:xfrm>
          <a:prstGeom prst="rect">
            <a:avLst/>
          </a:prstGeom>
          <a:noFill/>
        </p:spPr>
        <p:txBody>
          <a:bodyPr wrap="square" rtlCol="0">
            <a:spAutoFit/>
          </a:bodyPr>
          <a:lstStyle/>
          <a:p>
            <a:r>
              <a:rPr lang="en-IN" sz="4800" dirty="0"/>
              <a:t>The Product is </a:t>
            </a:r>
            <a:r>
              <a:rPr lang="en-IN" sz="4800" dirty="0">
                <a:solidFill>
                  <a:srgbClr val="00B050"/>
                </a:solidFill>
              </a:rPr>
              <a:t>fantastic</a:t>
            </a:r>
            <a:r>
              <a:rPr lang="en-IN" sz="4800" dirty="0"/>
              <a:t>!!</a:t>
            </a:r>
          </a:p>
        </p:txBody>
      </p:sp>
      <p:sp>
        <p:nvSpPr>
          <p:cNvPr id="15" name="TextBox 14">
            <a:extLst>
              <a:ext uri="{FF2B5EF4-FFF2-40B4-BE49-F238E27FC236}">
                <a16:creationId xmlns:a16="http://schemas.microsoft.com/office/drawing/2014/main" id="{A2476690-5417-752C-FD40-BAE54D2BDF95}"/>
              </a:ext>
            </a:extLst>
          </p:cNvPr>
          <p:cNvSpPr txBox="1"/>
          <p:nvPr/>
        </p:nvSpPr>
        <p:spPr>
          <a:xfrm>
            <a:off x="12132515" y="2697601"/>
            <a:ext cx="1067231" cy="523220"/>
          </a:xfrm>
          <a:prstGeom prst="rect">
            <a:avLst/>
          </a:prstGeom>
          <a:noFill/>
        </p:spPr>
        <p:txBody>
          <a:bodyPr wrap="square" rtlCol="0">
            <a:spAutoFit/>
          </a:bodyPr>
          <a:lstStyle/>
          <a:p>
            <a:r>
              <a:rPr lang="en-IN" sz="2800" dirty="0"/>
              <a:t>No</a:t>
            </a:r>
          </a:p>
        </p:txBody>
      </p:sp>
      <p:sp>
        <p:nvSpPr>
          <p:cNvPr id="17" name="TextBox 16">
            <a:extLst>
              <a:ext uri="{FF2B5EF4-FFF2-40B4-BE49-F238E27FC236}">
                <a16:creationId xmlns:a16="http://schemas.microsoft.com/office/drawing/2014/main" id="{F6676D8C-713E-00D4-8FEF-052FB2CFCA25}"/>
              </a:ext>
            </a:extLst>
          </p:cNvPr>
          <p:cNvSpPr txBox="1"/>
          <p:nvPr/>
        </p:nvSpPr>
        <p:spPr>
          <a:xfrm>
            <a:off x="14729861" y="2900824"/>
            <a:ext cx="1067231" cy="523220"/>
          </a:xfrm>
          <a:prstGeom prst="rect">
            <a:avLst/>
          </a:prstGeom>
          <a:noFill/>
        </p:spPr>
        <p:txBody>
          <a:bodyPr wrap="square" rtlCol="0">
            <a:spAutoFit/>
          </a:bodyPr>
          <a:lstStyle/>
          <a:p>
            <a:r>
              <a:rPr lang="en-IN" sz="2800" dirty="0"/>
              <a:t>Yes</a:t>
            </a:r>
          </a:p>
        </p:txBody>
      </p:sp>
      <p:sp>
        <p:nvSpPr>
          <p:cNvPr id="18" name="TextBox 17">
            <a:extLst>
              <a:ext uri="{FF2B5EF4-FFF2-40B4-BE49-F238E27FC236}">
                <a16:creationId xmlns:a16="http://schemas.microsoft.com/office/drawing/2014/main" id="{899054E5-B9EE-F30C-2A15-638A4F4AAC72}"/>
              </a:ext>
            </a:extLst>
          </p:cNvPr>
          <p:cNvSpPr txBox="1"/>
          <p:nvPr/>
        </p:nvSpPr>
        <p:spPr>
          <a:xfrm>
            <a:off x="16275923" y="5112964"/>
            <a:ext cx="1067231" cy="523220"/>
          </a:xfrm>
          <a:prstGeom prst="rect">
            <a:avLst/>
          </a:prstGeom>
          <a:noFill/>
        </p:spPr>
        <p:txBody>
          <a:bodyPr wrap="square" rtlCol="0">
            <a:spAutoFit/>
          </a:bodyPr>
          <a:lstStyle/>
          <a:p>
            <a:r>
              <a:rPr lang="en-IN" sz="2800" dirty="0"/>
              <a:t>Yes</a:t>
            </a:r>
          </a:p>
        </p:txBody>
      </p:sp>
      <p:sp>
        <p:nvSpPr>
          <p:cNvPr id="19" name="TextBox 18">
            <a:extLst>
              <a:ext uri="{FF2B5EF4-FFF2-40B4-BE49-F238E27FC236}">
                <a16:creationId xmlns:a16="http://schemas.microsoft.com/office/drawing/2014/main" id="{5F5C749E-9B45-F1F0-F231-7FE82E27E4EB}"/>
              </a:ext>
            </a:extLst>
          </p:cNvPr>
          <p:cNvSpPr txBox="1"/>
          <p:nvPr/>
        </p:nvSpPr>
        <p:spPr>
          <a:xfrm>
            <a:off x="13473882" y="5112964"/>
            <a:ext cx="1067231" cy="523220"/>
          </a:xfrm>
          <a:prstGeom prst="rect">
            <a:avLst/>
          </a:prstGeom>
          <a:noFill/>
        </p:spPr>
        <p:txBody>
          <a:bodyPr wrap="square" rtlCol="0">
            <a:spAutoFit/>
          </a:bodyPr>
          <a:lstStyle/>
          <a:p>
            <a:r>
              <a:rPr lang="en-IN" sz="2800" dirty="0"/>
              <a:t>No</a:t>
            </a:r>
          </a:p>
        </p:txBody>
      </p:sp>
      <p:sp>
        <p:nvSpPr>
          <p:cNvPr id="21" name="TextBox 3">
            <a:extLst>
              <a:ext uri="{FF2B5EF4-FFF2-40B4-BE49-F238E27FC236}">
                <a16:creationId xmlns:a16="http://schemas.microsoft.com/office/drawing/2014/main" id="{FAEE6684-E44D-5186-CA4E-E0DFA96369AC}"/>
              </a:ext>
            </a:extLst>
          </p:cNvPr>
          <p:cNvSpPr txBox="1"/>
          <p:nvPr/>
        </p:nvSpPr>
        <p:spPr>
          <a:xfrm>
            <a:off x="2753571" y="448499"/>
            <a:ext cx="11552977" cy="1166783"/>
          </a:xfrm>
          <a:prstGeom prst="rect">
            <a:avLst/>
          </a:prstGeom>
        </p:spPr>
        <p:txBody>
          <a:bodyPr lIns="0" tIns="0" rIns="0" bIns="0" rtlCol="0" anchor="t">
            <a:spAutoFit/>
          </a:bodyPr>
          <a:lstStyle/>
          <a:p>
            <a:pPr algn="ctr">
              <a:lnSpc>
                <a:spcPts val="9587"/>
              </a:lnSpc>
            </a:pPr>
            <a:r>
              <a:rPr lang="en-US" sz="6947" b="1" spc="368" dirty="0">
                <a:solidFill>
                  <a:srgbClr val="231F20"/>
                </a:solidFill>
                <a:latin typeface="Oswald Bold"/>
                <a:ea typeface="Oswald Bold"/>
                <a:cs typeface="Oswald Bold"/>
                <a:sym typeface="Oswald Bold"/>
              </a:rPr>
              <a:t>DECISION TREE</a:t>
            </a:r>
          </a:p>
        </p:txBody>
      </p:sp>
      <p:sp>
        <p:nvSpPr>
          <p:cNvPr id="22" name="TextBox 21">
            <a:extLst>
              <a:ext uri="{FF2B5EF4-FFF2-40B4-BE49-F238E27FC236}">
                <a16:creationId xmlns:a16="http://schemas.microsoft.com/office/drawing/2014/main" id="{9938E4CC-CF79-C5B0-9C18-F8E5454691AA}"/>
              </a:ext>
            </a:extLst>
          </p:cNvPr>
          <p:cNvSpPr txBox="1"/>
          <p:nvPr/>
        </p:nvSpPr>
        <p:spPr>
          <a:xfrm>
            <a:off x="857730" y="2974008"/>
            <a:ext cx="3356179" cy="769441"/>
          </a:xfrm>
          <a:prstGeom prst="rect">
            <a:avLst/>
          </a:prstGeom>
          <a:noFill/>
        </p:spPr>
        <p:txBody>
          <a:bodyPr wrap="square" rtlCol="0">
            <a:spAutoFit/>
          </a:bodyPr>
          <a:lstStyle/>
          <a:p>
            <a:r>
              <a:rPr lang="en-IN" sz="4400" dirty="0"/>
              <a:t>Review Text:</a:t>
            </a:r>
          </a:p>
        </p:txBody>
      </p:sp>
      <p:cxnSp>
        <p:nvCxnSpPr>
          <p:cNvPr id="8" name="Straight Arrow Connector 7">
            <a:extLst>
              <a:ext uri="{FF2B5EF4-FFF2-40B4-BE49-F238E27FC236}">
                <a16:creationId xmlns:a16="http://schemas.microsoft.com/office/drawing/2014/main" id="{692B3E75-C1F1-E696-E702-1A96E2122E5F}"/>
              </a:ext>
            </a:extLst>
          </p:cNvPr>
          <p:cNvCxnSpPr>
            <a:cxnSpLocks/>
          </p:cNvCxnSpPr>
          <p:nvPr/>
        </p:nvCxnSpPr>
        <p:spPr>
          <a:xfrm>
            <a:off x="12751890" y="1028559"/>
            <a:ext cx="566639" cy="5957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3636348-6677-D7CA-EF85-0AC64309F055}"/>
              </a:ext>
            </a:extLst>
          </p:cNvPr>
          <p:cNvSpPr txBox="1"/>
          <p:nvPr/>
        </p:nvSpPr>
        <p:spPr>
          <a:xfrm>
            <a:off x="12132515" y="491565"/>
            <a:ext cx="1827078" cy="584775"/>
          </a:xfrm>
          <a:prstGeom prst="rect">
            <a:avLst/>
          </a:prstGeom>
          <a:noFill/>
        </p:spPr>
        <p:txBody>
          <a:bodyPr wrap="square" rtlCol="0">
            <a:spAutoFit/>
          </a:bodyPr>
          <a:lstStyle/>
          <a:p>
            <a:r>
              <a:rPr lang="en-IN" sz="3200" dirty="0"/>
              <a:t>Positive</a:t>
            </a:r>
          </a:p>
        </p:txBody>
      </p:sp>
    </p:spTree>
    <p:extLst>
      <p:ext uri="{BB962C8B-B14F-4D97-AF65-F5344CB8AC3E}">
        <p14:creationId xmlns:p14="http://schemas.microsoft.com/office/powerpoint/2010/main" val="3774313245"/>
      </p:ext>
    </p:extLst>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D5A0C-8141-6F39-8DC4-443D7CFF43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D152E2-EDD8-DA90-3EC8-8D98D3165B1D}"/>
              </a:ext>
            </a:extLst>
          </p:cNvPr>
          <p:cNvSpPr/>
          <p:nvPr/>
        </p:nvSpPr>
        <p:spPr>
          <a:xfrm flipH="1" flipV="1">
            <a:off x="0" y="-186056"/>
            <a:ext cx="18592800" cy="10473055"/>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p:spPr>
        <p:style>
          <a:lnRef idx="2">
            <a:schemeClr val="dk1"/>
          </a:lnRef>
          <a:fillRef idx="1">
            <a:schemeClr val="lt1"/>
          </a:fillRef>
          <a:effectRef idx="0">
            <a:schemeClr val="dk1"/>
          </a:effectRef>
          <a:fontRef idx="minor">
            <a:schemeClr val="dk1"/>
          </a:fontRef>
        </p:style>
      </p:sp>
      <p:sp>
        <p:nvSpPr>
          <p:cNvPr id="4" name="Freeform 4">
            <a:extLst>
              <a:ext uri="{FF2B5EF4-FFF2-40B4-BE49-F238E27FC236}">
                <a16:creationId xmlns:a16="http://schemas.microsoft.com/office/drawing/2014/main" id="{649DDA56-BED8-8212-7A15-2DC585CB1EA0}"/>
              </a:ext>
            </a:extLst>
          </p:cNvPr>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3EA41CFA-1A6A-5C7E-DCB8-A0EC4E35C015}"/>
              </a:ext>
            </a:extLst>
          </p:cNvPr>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C324E4E0-9880-7EBD-8980-8883C474CA1D}"/>
              </a:ext>
            </a:extLst>
          </p:cNvPr>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a:extLst>
              <a:ext uri="{FF2B5EF4-FFF2-40B4-BE49-F238E27FC236}">
                <a16:creationId xmlns:a16="http://schemas.microsoft.com/office/drawing/2014/main" id="{AE385A70-62D6-F427-8605-D7E979D4005B}"/>
              </a:ext>
            </a:extLst>
          </p:cNvPr>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9" name="Flowchart: Connector 8">
            <a:extLst>
              <a:ext uri="{FF2B5EF4-FFF2-40B4-BE49-F238E27FC236}">
                <a16:creationId xmlns:a16="http://schemas.microsoft.com/office/drawing/2014/main" id="{D63026A2-2AB3-98D8-D123-CB6B280D01EC}"/>
              </a:ext>
            </a:extLst>
          </p:cNvPr>
          <p:cNvSpPr/>
          <p:nvPr/>
        </p:nvSpPr>
        <p:spPr>
          <a:xfrm>
            <a:off x="12954000" y="1439543"/>
            <a:ext cx="1827078" cy="1389999"/>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Fantastic</a:t>
            </a:r>
          </a:p>
        </p:txBody>
      </p:sp>
      <p:sp>
        <p:nvSpPr>
          <p:cNvPr id="10" name="Flowchart: Connector 9">
            <a:extLst>
              <a:ext uri="{FF2B5EF4-FFF2-40B4-BE49-F238E27FC236}">
                <a16:creationId xmlns:a16="http://schemas.microsoft.com/office/drawing/2014/main" id="{05707143-0CA2-A0AD-0D76-CF7E13C665F4}"/>
              </a:ext>
            </a:extLst>
          </p:cNvPr>
          <p:cNvSpPr/>
          <p:nvPr/>
        </p:nvSpPr>
        <p:spPr>
          <a:xfrm>
            <a:off x="14314043" y="3777520"/>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good</a:t>
            </a:r>
          </a:p>
        </p:txBody>
      </p:sp>
      <p:sp>
        <p:nvSpPr>
          <p:cNvPr id="11" name="Flowchart: Connector 10">
            <a:extLst>
              <a:ext uri="{FF2B5EF4-FFF2-40B4-BE49-F238E27FC236}">
                <a16:creationId xmlns:a16="http://schemas.microsoft.com/office/drawing/2014/main" id="{540DFA89-9655-B0A3-AD0D-EA8BC6493DC0}"/>
              </a:ext>
            </a:extLst>
          </p:cNvPr>
          <p:cNvSpPr/>
          <p:nvPr/>
        </p:nvSpPr>
        <p:spPr>
          <a:xfrm>
            <a:off x="11567651" y="3597423"/>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terrible</a:t>
            </a:r>
          </a:p>
        </p:txBody>
      </p:sp>
      <p:sp>
        <p:nvSpPr>
          <p:cNvPr id="12" name="Flowchart: Connector 11">
            <a:extLst>
              <a:ext uri="{FF2B5EF4-FFF2-40B4-BE49-F238E27FC236}">
                <a16:creationId xmlns:a16="http://schemas.microsoft.com/office/drawing/2014/main" id="{F71763E2-CD80-A0A3-4042-300A203A31DE}"/>
              </a:ext>
            </a:extLst>
          </p:cNvPr>
          <p:cNvSpPr/>
          <p:nvPr/>
        </p:nvSpPr>
        <p:spPr>
          <a:xfrm>
            <a:off x="12982731" y="6077336"/>
            <a:ext cx="1750878" cy="1390000"/>
          </a:xfrm>
          <a:prstGeom prst="flowChartConnector">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okay</a:t>
            </a:r>
          </a:p>
        </p:txBody>
      </p:sp>
      <p:sp>
        <p:nvSpPr>
          <p:cNvPr id="13" name="Flowchart: Connector 12">
            <a:extLst>
              <a:ext uri="{FF2B5EF4-FFF2-40B4-BE49-F238E27FC236}">
                <a16:creationId xmlns:a16="http://schemas.microsoft.com/office/drawing/2014/main" id="{BF08DDFC-35D8-E34B-00A7-D8C31F64D1B7}"/>
              </a:ext>
            </a:extLst>
          </p:cNvPr>
          <p:cNvSpPr/>
          <p:nvPr/>
        </p:nvSpPr>
        <p:spPr>
          <a:xfrm>
            <a:off x="15793220" y="6194877"/>
            <a:ext cx="1750878" cy="1390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better</a:t>
            </a:r>
          </a:p>
        </p:txBody>
      </p:sp>
      <p:cxnSp>
        <p:nvCxnSpPr>
          <p:cNvPr id="16" name="Straight Arrow Connector 15">
            <a:extLst>
              <a:ext uri="{FF2B5EF4-FFF2-40B4-BE49-F238E27FC236}">
                <a16:creationId xmlns:a16="http://schemas.microsoft.com/office/drawing/2014/main" id="{ED5DB2C2-B196-F49C-A85D-D1B8E1F457CD}"/>
              </a:ext>
            </a:extLst>
          </p:cNvPr>
          <p:cNvCxnSpPr>
            <a:cxnSpLocks/>
          </p:cNvCxnSpPr>
          <p:nvPr/>
        </p:nvCxnSpPr>
        <p:spPr>
          <a:xfrm flipH="1">
            <a:off x="12572570" y="2606326"/>
            <a:ext cx="762861" cy="9910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458D181-49ED-785E-B66D-027D8E2ACAC5}"/>
              </a:ext>
            </a:extLst>
          </p:cNvPr>
          <p:cNvCxnSpPr>
            <a:cxnSpLocks/>
          </p:cNvCxnSpPr>
          <p:nvPr/>
        </p:nvCxnSpPr>
        <p:spPr>
          <a:xfrm>
            <a:off x="14281279" y="2606326"/>
            <a:ext cx="579874" cy="12068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2992C1B5-07BA-9509-36E6-162CF38DD6BD}"/>
              </a:ext>
            </a:extLst>
          </p:cNvPr>
          <p:cNvCxnSpPr>
            <a:cxnSpLocks/>
          </p:cNvCxnSpPr>
          <p:nvPr/>
        </p:nvCxnSpPr>
        <p:spPr>
          <a:xfrm>
            <a:off x="15791592" y="4987986"/>
            <a:ext cx="579874" cy="120689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B09CCE7-9444-91C8-1183-47B4FB25405C}"/>
              </a:ext>
            </a:extLst>
          </p:cNvPr>
          <p:cNvCxnSpPr>
            <a:cxnSpLocks/>
          </p:cNvCxnSpPr>
          <p:nvPr/>
        </p:nvCxnSpPr>
        <p:spPr>
          <a:xfrm flipH="1">
            <a:off x="13952299" y="5050049"/>
            <a:ext cx="762861" cy="9910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C4007CF6-9154-ED85-853B-00A787F28611}"/>
              </a:ext>
            </a:extLst>
          </p:cNvPr>
          <p:cNvSpPr txBox="1"/>
          <p:nvPr/>
        </p:nvSpPr>
        <p:spPr>
          <a:xfrm>
            <a:off x="1699460" y="4478458"/>
            <a:ext cx="8404861" cy="830997"/>
          </a:xfrm>
          <a:prstGeom prst="rect">
            <a:avLst/>
          </a:prstGeom>
          <a:noFill/>
        </p:spPr>
        <p:txBody>
          <a:bodyPr wrap="square" rtlCol="0">
            <a:spAutoFit/>
          </a:bodyPr>
          <a:lstStyle/>
          <a:p>
            <a:r>
              <a:rPr lang="en-IN" sz="4800" dirty="0"/>
              <a:t>The Product is </a:t>
            </a:r>
            <a:r>
              <a:rPr lang="en-IN" sz="4800" dirty="0">
                <a:solidFill>
                  <a:srgbClr val="00B0F0"/>
                </a:solidFill>
              </a:rPr>
              <a:t>okay</a:t>
            </a:r>
          </a:p>
        </p:txBody>
      </p:sp>
      <p:sp>
        <p:nvSpPr>
          <p:cNvPr id="8" name="TextBox 7">
            <a:extLst>
              <a:ext uri="{FF2B5EF4-FFF2-40B4-BE49-F238E27FC236}">
                <a16:creationId xmlns:a16="http://schemas.microsoft.com/office/drawing/2014/main" id="{56D7933E-02E5-B089-183E-21F6EF9C1FD9}"/>
              </a:ext>
            </a:extLst>
          </p:cNvPr>
          <p:cNvSpPr txBox="1"/>
          <p:nvPr/>
        </p:nvSpPr>
        <p:spPr>
          <a:xfrm>
            <a:off x="14768495" y="2807762"/>
            <a:ext cx="1067231" cy="523220"/>
          </a:xfrm>
          <a:prstGeom prst="rect">
            <a:avLst/>
          </a:prstGeom>
          <a:noFill/>
        </p:spPr>
        <p:txBody>
          <a:bodyPr wrap="square" rtlCol="0">
            <a:spAutoFit/>
          </a:bodyPr>
          <a:lstStyle/>
          <a:p>
            <a:r>
              <a:rPr lang="en-IN" sz="2800" dirty="0"/>
              <a:t>Yes</a:t>
            </a:r>
          </a:p>
        </p:txBody>
      </p:sp>
      <p:sp>
        <p:nvSpPr>
          <p:cNvPr id="14" name="TextBox 13">
            <a:extLst>
              <a:ext uri="{FF2B5EF4-FFF2-40B4-BE49-F238E27FC236}">
                <a16:creationId xmlns:a16="http://schemas.microsoft.com/office/drawing/2014/main" id="{9E8D6BAD-926D-123C-565D-174404875492}"/>
              </a:ext>
            </a:extLst>
          </p:cNvPr>
          <p:cNvSpPr txBox="1"/>
          <p:nvPr/>
        </p:nvSpPr>
        <p:spPr>
          <a:xfrm>
            <a:off x="16081529" y="5133975"/>
            <a:ext cx="1067231" cy="523220"/>
          </a:xfrm>
          <a:prstGeom prst="rect">
            <a:avLst/>
          </a:prstGeom>
          <a:noFill/>
        </p:spPr>
        <p:txBody>
          <a:bodyPr wrap="square" rtlCol="0">
            <a:spAutoFit/>
          </a:bodyPr>
          <a:lstStyle/>
          <a:p>
            <a:r>
              <a:rPr lang="en-IN" sz="2800" dirty="0"/>
              <a:t>Yes</a:t>
            </a:r>
          </a:p>
        </p:txBody>
      </p:sp>
      <p:sp>
        <p:nvSpPr>
          <p:cNvPr id="15" name="TextBox 14">
            <a:extLst>
              <a:ext uri="{FF2B5EF4-FFF2-40B4-BE49-F238E27FC236}">
                <a16:creationId xmlns:a16="http://schemas.microsoft.com/office/drawing/2014/main" id="{F2ED98F0-7EC9-D0F0-045B-CBCD384BDEBA}"/>
              </a:ext>
            </a:extLst>
          </p:cNvPr>
          <p:cNvSpPr txBox="1"/>
          <p:nvPr/>
        </p:nvSpPr>
        <p:spPr>
          <a:xfrm>
            <a:off x="13424093" y="5047845"/>
            <a:ext cx="1067231" cy="523220"/>
          </a:xfrm>
          <a:prstGeom prst="rect">
            <a:avLst/>
          </a:prstGeom>
          <a:noFill/>
        </p:spPr>
        <p:txBody>
          <a:bodyPr wrap="square" rtlCol="0">
            <a:spAutoFit/>
          </a:bodyPr>
          <a:lstStyle/>
          <a:p>
            <a:r>
              <a:rPr lang="en-IN" sz="2800" dirty="0"/>
              <a:t>No</a:t>
            </a:r>
          </a:p>
        </p:txBody>
      </p:sp>
      <p:sp>
        <p:nvSpPr>
          <p:cNvPr id="17" name="TextBox 16">
            <a:extLst>
              <a:ext uri="{FF2B5EF4-FFF2-40B4-BE49-F238E27FC236}">
                <a16:creationId xmlns:a16="http://schemas.microsoft.com/office/drawing/2014/main" id="{3B9BEEAF-AB11-4B07-E4DA-2ECD94511597}"/>
              </a:ext>
            </a:extLst>
          </p:cNvPr>
          <p:cNvSpPr txBox="1"/>
          <p:nvPr/>
        </p:nvSpPr>
        <p:spPr>
          <a:xfrm>
            <a:off x="12268200" y="2690262"/>
            <a:ext cx="1067231" cy="523220"/>
          </a:xfrm>
          <a:prstGeom prst="rect">
            <a:avLst/>
          </a:prstGeom>
          <a:noFill/>
        </p:spPr>
        <p:txBody>
          <a:bodyPr wrap="square" rtlCol="0">
            <a:spAutoFit/>
          </a:bodyPr>
          <a:lstStyle/>
          <a:p>
            <a:r>
              <a:rPr lang="en-IN" sz="2800" dirty="0"/>
              <a:t>No</a:t>
            </a:r>
          </a:p>
        </p:txBody>
      </p:sp>
      <p:sp>
        <p:nvSpPr>
          <p:cNvPr id="18" name="TextBox 3">
            <a:extLst>
              <a:ext uri="{FF2B5EF4-FFF2-40B4-BE49-F238E27FC236}">
                <a16:creationId xmlns:a16="http://schemas.microsoft.com/office/drawing/2014/main" id="{BBEED3BF-A69A-0C5A-43D5-1243B9D50A99}"/>
              </a:ext>
            </a:extLst>
          </p:cNvPr>
          <p:cNvSpPr txBox="1"/>
          <p:nvPr/>
        </p:nvSpPr>
        <p:spPr>
          <a:xfrm>
            <a:off x="2753571" y="448499"/>
            <a:ext cx="11552977" cy="1166783"/>
          </a:xfrm>
          <a:prstGeom prst="rect">
            <a:avLst/>
          </a:prstGeom>
        </p:spPr>
        <p:txBody>
          <a:bodyPr lIns="0" tIns="0" rIns="0" bIns="0" rtlCol="0" anchor="t">
            <a:spAutoFit/>
          </a:bodyPr>
          <a:lstStyle/>
          <a:p>
            <a:pPr algn="ctr">
              <a:lnSpc>
                <a:spcPts val="9587"/>
              </a:lnSpc>
            </a:pPr>
            <a:r>
              <a:rPr lang="en-US" sz="6947" b="1" spc="368" dirty="0">
                <a:solidFill>
                  <a:srgbClr val="231F20"/>
                </a:solidFill>
                <a:latin typeface="Oswald Bold"/>
                <a:ea typeface="Oswald Bold"/>
                <a:cs typeface="Oswald Bold"/>
                <a:sym typeface="Oswald Bold"/>
              </a:rPr>
              <a:t>DECISION TREE</a:t>
            </a:r>
          </a:p>
        </p:txBody>
      </p:sp>
      <p:sp>
        <p:nvSpPr>
          <p:cNvPr id="19" name="TextBox 18">
            <a:extLst>
              <a:ext uri="{FF2B5EF4-FFF2-40B4-BE49-F238E27FC236}">
                <a16:creationId xmlns:a16="http://schemas.microsoft.com/office/drawing/2014/main" id="{AFBB9F19-E701-10C9-C035-936113A96EE2}"/>
              </a:ext>
            </a:extLst>
          </p:cNvPr>
          <p:cNvSpPr txBox="1"/>
          <p:nvPr/>
        </p:nvSpPr>
        <p:spPr>
          <a:xfrm>
            <a:off x="743901" y="3597423"/>
            <a:ext cx="3356179" cy="769441"/>
          </a:xfrm>
          <a:prstGeom prst="rect">
            <a:avLst/>
          </a:prstGeom>
          <a:noFill/>
        </p:spPr>
        <p:txBody>
          <a:bodyPr wrap="square" rtlCol="0">
            <a:spAutoFit/>
          </a:bodyPr>
          <a:lstStyle/>
          <a:p>
            <a:r>
              <a:rPr lang="en-IN" sz="4400" dirty="0"/>
              <a:t>Review Text:</a:t>
            </a:r>
          </a:p>
        </p:txBody>
      </p:sp>
      <p:sp>
        <p:nvSpPr>
          <p:cNvPr id="3" name="TextBox 2">
            <a:extLst>
              <a:ext uri="{FF2B5EF4-FFF2-40B4-BE49-F238E27FC236}">
                <a16:creationId xmlns:a16="http://schemas.microsoft.com/office/drawing/2014/main" id="{AD14DAF4-4B55-BD07-B7BD-9C7F508C0EA1}"/>
              </a:ext>
            </a:extLst>
          </p:cNvPr>
          <p:cNvSpPr txBox="1"/>
          <p:nvPr/>
        </p:nvSpPr>
        <p:spPr>
          <a:xfrm>
            <a:off x="12359395" y="7876792"/>
            <a:ext cx="1827078" cy="584775"/>
          </a:xfrm>
          <a:prstGeom prst="rect">
            <a:avLst/>
          </a:prstGeom>
          <a:noFill/>
        </p:spPr>
        <p:txBody>
          <a:bodyPr wrap="square" rtlCol="0">
            <a:spAutoFit/>
          </a:bodyPr>
          <a:lstStyle/>
          <a:p>
            <a:r>
              <a:rPr lang="en-IN" sz="3200" dirty="0"/>
              <a:t>Neutral</a:t>
            </a:r>
          </a:p>
        </p:txBody>
      </p:sp>
      <p:cxnSp>
        <p:nvCxnSpPr>
          <p:cNvPr id="22" name="Straight Arrow Connector 21">
            <a:extLst>
              <a:ext uri="{FF2B5EF4-FFF2-40B4-BE49-F238E27FC236}">
                <a16:creationId xmlns:a16="http://schemas.microsoft.com/office/drawing/2014/main" id="{45A55885-45D9-57FE-AF03-F9E28E28934C}"/>
              </a:ext>
            </a:extLst>
          </p:cNvPr>
          <p:cNvCxnSpPr/>
          <p:nvPr/>
        </p:nvCxnSpPr>
        <p:spPr>
          <a:xfrm flipV="1">
            <a:off x="12801815" y="6969564"/>
            <a:ext cx="304585" cy="891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17980"/>
      </p:ext>
    </p:extLst>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642239" y="135074"/>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METHODOLOGY</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028700" y="1718992"/>
            <a:ext cx="16862947" cy="7946984"/>
          </a:xfrm>
          <a:prstGeom prst="rect">
            <a:avLst/>
          </a:prstGeom>
        </p:spPr>
        <p:txBody>
          <a:bodyPr lIns="0" tIns="0" rIns="0" bIns="0" rtlCol="0" anchor="t">
            <a:spAutoFit/>
          </a:bodyPr>
          <a:lstStyle/>
          <a:p>
            <a:pPr marL="388620" lvl="1" algn="l">
              <a:lnSpc>
                <a:spcPts val="4679"/>
              </a:lnSpc>
            </a:pPr>
            <a:r>
              <a:rPr lang="en-US" sz="3599" b="1">
                <a:solidFill>
                  <a:srgbClr val="231F20"/>
                </a:solidFill>
                <a:latin typeface="Open Sauce Bold"/>
                <a:ea typeface="Open Sauce Bold"/>
                <a:cs typeface="Open Sauce Bold"/>
                <a:sym typeface="Open Sauce Bold"/>
              </a:rPr>
              <a:t>Data Preprocessing</a:t>
            </a:r>
            <a:endParaRPr lang="en-US"/>
          </a:p>
          <a:p>
            <a:pPr algn="l">
              <a:lnSpc>
                <a:spcPts val="4679"/>
              </a:lnSpc>
            </a:pPr>
            <a:endParaRPr lang="en-US" sz="3599" b="1">
              <a:solidFill>
                <a:srgbClr val="231F20"/>
              </a:solidFill>
              <a:latin typeface="Open Sauce Bold"/>
              <a:ea typeface="Open Sauce Bold"/>
              <a:cs typeface="Open Sauce Bold"/>
              <a:sym typeface="Open Sauce Bold"/>
            </a:endParaRP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Text Cleaning:</a:t>
            </a:r>
            <a:r>
              <a:rPr lang="en-US" sz="3000">
                <a:solidFill>
                  <a:srgbClr val="231F20"/>
                </a:solidFill>
                <a:latin typeface="Open Sauce"/>
                <a:ea typeface="Open Sauce"/>
                <a:cs typeface="Open Sauce"/>
                <a:sym typeface="Open Sauce"/>
              </a:rPr>
              <a:t> Removing special characters, punctuation, and converting text to lowercase to ensure consistency and reduce noise in the dataset.</a:t>
            </a:r>
            <a:endParaRPr lang="en-US" sz="3000">
              <a:solidFill>
                <a:srgbClr val="231F20"/>
              </a:solidFill>
              <a:latin typeface="Open Sauce"/>
              <a:ea typeface="Open Sauce"/>
              <a:cs typeface="Open Sauce"/>
            </a:endParaRPr>
          </a:p>
          <a:p>
            <a:pPr marL="647700" lvl="1" indent="-323850" algn="l">
              <a:lnSpc>
                <a:spcPts val="3900"/>
              </a:lnSpc>
              <a:buFont typeface="Arial"/>
              <a:buChar char="•"/>
            </a:pPr>
            <a:r>
              <a:rPr lang="en-US" sz="3000" b="1">
                <a:solidFill>
                  <a:srgbClr val="231F20"/>
                </a:solidFill>
                <a:latin typeface="Open Sauce Bold"/>
                <a:ea typeface="Open Sauce Bold"/>
                <a:cs typeface="Open Sauce Bold"/>
                <a:sym typeface="Open Sauce Bold"/>
              </a:rPr>
              <a:t>Sentiment Mapping:</a:t>
            </a:r>
            <a:r>
              <a:rPr lang="en-US" sz="3000">
                <a:solidFill>
                  <a:srgbClr val="231F20"/>
                </a:solidFill>
                <a:latin typeface="Open Sauce"/>
                <a:ea typeface="Open Sauce"/>
                <a:cs typeface="Open Sauce"/>
                <a:sym typeface="Open Sauce"/>
              </a:rPr>
              <a:t> Converting numerical ratings into sentiment labels (positive, neutral, negative) to simplify classification.</a:t>
            </a:r>
            <a:endParaRPr lang="en-US" sz="3000">
              <a:solidFill>
                <a:srgbClr val="231F20"/>
              </a:solidFill>
              <a:latin typeface="Open Sauce"/>
              <a:ea typeface="Open Sauce"/>
              <a:cs typeface="Open Sauce"/>
            </a:endParaRPr>
          </a:p>
          <a:p>
            <a:pPr algn="l">
              <a:lnSpc>
                <a:spcPts val="3900"/>
              </a:lnSpc>
            </a:pPr>
            <a:endParaRPr lang="en-US" sz="3000">
              <a:solidFill>
                <a:srgbClr val="231F20"/>
              </a:solidFill>
              <a:latin typeface="Open Sauce"/>
              <a:ea typeface="Open Sauce"/>
              <a:cs typeface="Open Sauce"/>
              <a:sym typeface="Open Sauce"/>
            </a:endParaRPr>
          </a:p>
          <a:p>
            <a:pPr marL="356235" lvl="1" algn="l">
              <a:lnSpc>
                <a:spcPts val="4289"/>
              </a:lnSpc>
            </a:pPr>
            <a:r>
              <a:rPr lang="en-US" sz="3299" b="1">
                <a:solidFill>
                  <a:srgbClr val="231F20"/>
                </a:solidFill>
                <a:latin typeface="Open Sauce Bold"/>
                <a:ea typeface="Open Sauce Bold"/>
                <a:cs typeface="Open Sauce Bold"/>
                <a:sym typeface="Open Sauce Bold"/>
              </a:rPr>
              <a:t>Text Vectorization and Bag of Words</a:t>
            </a:r>
            <a:endParaRPr lang="en-US" sz="3299" b="1">
              <a:solidFill>
                <a:srgbClr val="231F20"/>
              </a:solidFill>
              <a:latin typeface="Open Sauce Bold"/>
              <a:ea typeface="Open Sauce Bold"/>
              <a:cs typeface="Open Sauce Bold"/>
            </a:endParaRPr>
          </a:p>
          <a:p>
            <a:pPr algn="l">
              <a:lnSpc>
                <a:spcPts val="4289"/>
              </a:lnSpc>
            </a:pPr>
            <a:endParaRPr lang="en-US" sz="3299" b="1">
              <a:solidFill>
                <a:srgbClr val="231F20"/>
              </a:solidFill>
              <a:latin typeface="Open Sauce Bold"/>
              <a:ea typeface="Open Sauce Bold"/>
              <a:cs typeface="Open Sauce Bold"/>
              <a:sym typeface="Open Sauce Bold"/>
            </a:endParaRPr>
          </a:p>
          <a:p>
            <a:pPr marL="690245" lvl="1" indent="-344805" algn="l">
              <a:lnSpc>
                <a:spcPts val="4159"/>
              </a:lnSpc>
              <a:buFont typeface="Arial"/>
              <a:buChar char="•"/>
            </a:pPr>
            <a:r>
              <a:rPr lang="en-US" sz="3150" b="1">
                <a:solidFill>
                  <a:srgbClr val="231F20"/>
                </a:solidFill>
                <a:latin typeface="Open Sauce Bold"/>
                <a:ea typeface="Open Sauce Bold"/>
                <a:cs typeface="Open Sauce Bold"/>
                <a:sym typeface="Open Sauce Bold"/>
              </a:rPr>
              <a:t>TF-IDF Vectorization:</a:t>
            </a:r>
            <a:r>
              <a:rPr lang="en-US" sz="3150">
                <a:solidFill>
                  <a:srgbClr val="231F20"/>
                </a:solidFill>
                <a:latin typeface="Open Sauce"/>
                <a:ea typeface="Open Sauce"/>
                <a:cs typeface="Open Sauce"/>
                <a:sym typeface="Open Sauce"/>
              </a:rPr>
              <a:t> Transforming words into numerical features based on their importance in the dataset, focusing on terms that contribute to sentiment classification.</a:t>
            </a:r>
            <a:endParaRPr lang="en-US" sz="3150">
              <a:solidFill>
                <a:srgbClr val="231F20"/>
              </a:solidFill>
              <a:latin typeface="Open Sauce"/>
              <a:ea typeface="Open Sauce"/>
              <a:cs typeface="Open Sauce"/>
            </a:endParaRPr>
          </a:p>
          <a:p>
            <a:pPr marL="690245" lvl="1" indent="-344805" algn="l">
              <a:lnSpc>
                <a:spcPts val="4159"/>
              </a:lnSpc>
              <a:buFont typeface="Arial"/>
              <a:buChar char="•"/>
            </a:pPr>
            <a:r>
              <a:rPr lang="en-US" sz="3150" b="1">
                <a:solidFill>
                  <a:srgbClr val="231F20"/>
                </a:solidFill>
                <a:latin typeface="Open Sauce Bold"/>
                <a:ea typeface="Open Sauce Bold"/>
                <a:cs typeface="Open Sauce Bold"/>
                <a:sym typeface="Open Sauce Bold"/>
              </a:rPr>
              <a:t>Custom Bag-of-Words: </a:t>
            </a:r>
            <a:r>
              <a:rPr lang="en-US" sz="3150">
                <a:solidFill>
                  <a:srgbClr val="231F20"/>
                </a:solidFill>
                <a:latin typeface="Open Sauce"/>
                <a:ea typeface="Open Sauce"/>
                <a:cs typeface="Open Sauce"/>
                <a:sym typeface="Open Sauce"/>
              </a:rPr>
              <a:t>Utilizing predefined word lists for immediate classification of certain sentiments, enhancing efficiency and response time.</a:t>
            </a:r>
            <a:endParaRPr lang="en-US" sz="3150">
              <a:solidFill>
                <a:srgbClr val="231F20"/>
              </a:solidFill>
              <a:latin typeface="Open Sauce"/>
              <a:ea typeface="Open Sauce"/>
              <a:cs typeface="Open Sauce"/>
            </a:endParaRPr>
          </a:p>
          <a:p>
            <a:pPr algn="l">
              <a:lnSpc>
                <a:spcPts val="3900"/>
              </a:lnSpc>
            </a:pPr>
            <a:endParaRPr lang="en-US" sz="3199">
              <a:solidFill>
                <a:srgbClr val="231F20"/>
              </a:solidFill>
              <a:latin typeface="Open Sauce"/>
              <a:ea typeface="Open Sauce"/>
              <a:cs typeface="Open Sauce"/>
              <a:sym typeface="Open Sauce"/>
            </a:endParaRPr>
          </a:p>
          <a:p>
            <a:pPr algn="l">
              <a:lnSpc>
                <a:spcPts val="3900"/>
              </a:lnSpc>
            </a:pPr>
            <a:endParaRPr lang="en-US" sz="3199">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642239" y="135074"/>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METHODOLOGY</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1028700" y="1718992"/>
            <a:ext cx="16862947" cy="6527428"/>
          </a:xfrm>
          <a:prstGeom prst="rect">
            <a:avLst/>
          </a:prstGeom>
        </p:spPr>
        <p:txBody>
          <a:bodyPr lIns="0" tIns="0" rIns="0" bIns="0" rtlCol="0" anchor="t">
            <a:spAutoFit/>
          </a:bodyPr>
          <a:lstStyle/>
          <a:p>
            <a:pPr marL="388620" lvl="1" algn="l">
              <a:lnSpc>
                <a:spcPts val="4679"/>
              </a:lnSpc>
            </a:pPr>
            <a:r>
              <a:rPr lang="en-US" sz="3550" b="1">
                <a:solidFill>
                  <a:srgbClr val="231F20"/>
                </a:solidFill>
                <a:latin typeface="Open Sauce Bold"/>
                <a:ea typeface="Open Sauce Bold"/>
                <a:cs typeface="Open Sauce Bold"/>
                <a:sym typeface="Open Sauce Bold"/>
              </a:rPr>
              <a:t>Sentiment Analysis in Customer Reviews:</a:t>
            </a:r>
            <a:endParaRPr lang="en-US" sz="3550">
              <a:cs typeface="Calibri"/>
            </a:endParaRPr>
          </a:p>
          <a:p>
            <a:pPr marL="776605" lvl="1" indent="-387985" algn="l">
              <a:lnSpc>
                <a:spcPts val="4679"/>
              </a:lnSpc>
              <a:buFont typeface="Arial"/>
              <a:buChar char="•"/>
            </a:pPr>
            <a:r>
              <a:rPr lang="en-US" sz="3550">
                <a:solidFill>
                  <a:srgbClr val="231F20"/>
                </a:solidFill>
                <a:latin typeface="Open Sauce"/>
                <a:ea typeface="Open Sauce"/>
                <a:cs typeface="Open Sauce"/>
                <a:sym typeface="Open Sauce"/>
              </a:rPr>
              <a:t>Using sentiment categorization (positive, neutral, negative) to provide feedback, improving customer engagement and offering real-time insights for businesses.</a:t>
            </a:r>
            <a:endParaRPr lang="en-US" sz="3550">
              <a:solidFill>
                <a:srgbClr val="231F20"/>
              </a:solidFill>
              <a:latin typeface="Open Sauce"/>
              <a:ea typeface="Open Sauce"/>
              <a:cs typeface="Open Sauce"/>
            </a:endParaRPr>
          </a:p>
          <a:p>
            <a:pPr marL="776605" lvl="1" indent="-387985" algn="l">
              <a:lnSpc>
                <a:spcPts val="4679"/>
              </a:lnSpc>
              <a:buFont typeface="Arial"/>
              <a:buChar char="•"/>
            </a:pPr>
            <a:r>
              <a:rPr lang="en-US" sz="3550" b="1">
                <a:solidFill>
                  <a:srgbClr val="231F20"/>
                </a:solidFill>
                <a:latin typeface="Open Sauce Bold"/>
                <a:ea typeface="Open Sauce Bold"/>
                <a:cs typeface="Open Sauce Bold"/>
                <a:sym typeface="Open Sauce Bold"/>
              </a:rPr>
              <a:t>Model Selection:</a:t>
            </a:r>
            <a:r>
              <a:rPr lang="en-US" sz="3550">
                <a:solidFill>
                  <a:srgbClr val="231F20"/>
                </a:solidFill>
                <a:latin typeface="Open Sauce"/>
                <a:ea typeface="Open Sauce"/>
                <a:cs typeface="Open Sauce"/>
                <a:sym typeface="Open Sauce"/>
              </a:rPr>
              <a:t> Random Forest for Sentiment Analysis:</a:t>
            </a:r>
            <a:endParaRPr lang="en-US" sz="3550">
              <a:solidFill>
                <a:srgbClr val="231F20"/>
              </a:solidFill>
              <a:latin typeface="Open Sauce"/>
              <a:ea typeface="Open Sauce"/>
              <a:cs typeface="Open Sauce"/>
            </a:endParaRPr>
          </a:p>
          <a:p>
            <a:pPr marL="776605" lvl="1" indent="-387985">
              <a:lnSpc>
                <a:spcPts val="4679"/>
              </a:lnSpc>
              <a:buFont typeface="Arial"/>
              <a:buChar char="•"/>
            </a:pPr>
            <a:r>
              <a:rPr lang="en-US" sz="3550" b="1">
                <a:solidFill>
                  <a:srgbClr val="231F20"/>
                </a:solidFill>
                <a:latin typeface="Open Sauce Bold"/>
                <a:ea typeface="Open Sauce Bold"/>
                <a:cs typeface="Open Sauce Bold"/>
                <a:sym typeface="Open Sauce Bold"/>
              </a:rPr>
              <a:t>Random Forest Classifier:</a:t>
            </a:r>
            <a:r>
              <a:rPr lang="en-US" sz="3550" b="1">
                <a:solidFill>
                  <a:srgbClr val="231F20"/>
                </a:solidFill>
                <a:latin typeface="Open Sauce Bold"/>
                <a:ea typeface="+mn-lt"/>
                <a:cs typeface="+mn-lt"/>
                <a:sym typeface="Open Sauce"/>
              </a:rPr>
              <a:t> </a:t>
            </a:r>
            <a:r>
              <a:rPr lang="en-US" sz="3550">
                <a:solidFill>
                  <a:srgbClr val="231F20"/>
                </a:solidFill>
                <a:ea typeface="+mn-lt"/>
                <a:cs typeface="+mn-lt"/>
                <a:sym typeface="Open Sauce"/>
              </a:rPr>
              <a:t>Using a group of decision trees together for stronger and more accurate classification, which helps understand different ways people write in reviews and avoids the risk of learning only specific details(overfitting) from the training data.</a:t>
            </a:r>
            <a:endParaRPr lang="en-US" sz="3550">
              <a:solidFill>
                <a:srgbClr val="231F20"/>
              </a:solidFill>
              <a:ea typeface="+mn-lt"/>
              <a:cs typeface="+mn-lt"/>
            </a:endParaRPr>
          </a:p>
          <a:p>
            <a:pPr marL="776605" lvl="1" indent="-387985" algn="l">
              <a:lnSpc>
                <a:spcPts val="4679"/>
              </a:lnSpc>
              <a:buFont typeface="Arial"/>
              <a:buChar char="•"/>
            </a:pPr>
            <a:r>
              <a:rPr lang="en-US" sz="3550" b="1">
                <a:solidFill>
                  <a:srgbClr val="231F20"/>
                </a:solidFill>
                <a:latin typeface="Open Sauce Bold"/>
                <a:ea typeface="Open Sauce Bold"/>
                <a:cs typeface="Open Sauce Bold"/>
                <a:sym typeface="Open Sauce Bold"/>
              </a:rPr>
              <a:t>Class Weighting: </a:t>
            </a:r>
            <a:r>
              <a:rPr lang="en-US" sz="3550">
                <a:solidFill>
                  <a:srgbClr val="231F20"/>
                </a:solidFill>
                <a:latin typeface="Open Sauce"/>
                <a:ea typeface="Open Sauce"/>
                <a:cs typeface="Open Sauce"/>
                <a:sym typeface="Open Sauce"/>
              </a:rPr>
              <a:t>Ensuring fair representation of all sentiment categories to address data imbalances and enhance model accuracy.</a:t>
            </a:r>
            <a:endParaRPr lang="en-US" sz="3550">
              <a:solidFill>
                <a:srgbClr val="231F20"/>
              </a:solidFill>
              <a:latin typeface="Open Sauce"/>
              <a:ea typeface="Open Sauce"/>
              <a:cs typeface="Open Sauce"/>
            </a:endParaRPr>
          </a:p>
          <a:p>
            <a:pPr algn="l">
              <a:lnSpc>
                <a:spcPts val="3900"/>
              </a:lnSpc>
            </a:pPr>
            <a:endParaRPr lang="en-US" sz="3599">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2642239" y="135074"/>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METHODOLOGY</a:t>
            </a:r>
          </a:p>
        </p:txBody>
      </p:sp>
      <p:sp>
        <p:nvSpPr>
          <p:cNvPr id="4" name="Freeform 4"/>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p:cNvSpPr txBox="1"/>
          <p:nvPr/>
        </p:nvSpPr>
        <p:spPr>
          <a:xfrm>
            <a:off x="707764" y="2644775"/>
            <a:ext cx="16862947" cy="4719241"/>
          </a:xfrm>
          <a:prstGeom prst="rect">
            <a:avLst/>
          </a:prstGeom>
        </p:spPr>
        <p:txBody>
          <a:bodyPr lIns="0" tIns="0" rIns="0" bIns="0" rtlCol="0" anchor="t">
            <a:spAutoFit/>
          </a:bodyPr>
          <a:lstStyle/>
          <a:p>
            <a:pPr marL="388620" lvl="1" algn="l">
              <a:lnSpc>
                <a:spcPts val="4679"/>
              </a:lnSpc>
            </a:pPr>
            <a:r>
              <a:rPr lang="en-US" sz="3550" b="1">
                <a:solidFill>
                  <a:srgbClr val="231F20"/>
                </a:solidFill>
                <a:latin typeface="Open Sauce Bold"/>
                <a:ea typeface="Open Sauce Bold"/>
                <a:cs typeface="Open Sauce Bold"/>
                <a:sym typeface="Open Sauce Bold"/>
              </a:rPr>
              <a:t>Implementation with </a:t>
            </a:r>
            <a:r>
              <a:rPr lang="en-US" sz="3550" b="1" err="1">
                <a:solidFill>
                  <a:srgbClr val="231F20"/>
                </a:solidFill>
                <a:latin typeface="Open Sauce Bold"/>
                <a:ea typeface="Open Sauce Bold"/>
                <a:cs typeface="Open Sauce Bold"/>
                <a:sym typeface="Open Sauce Bold"/>
              </a:rPr>
              <a:t>Tkinter</a:t>
            </a:r>
            <a:r>
              <a:rPr lang="en-US" sz="3550" b="1">
                <a:solidFill>
                  <a:srgbClr val="231F20"/>
                </a:solidFill>
                <a:latin typeface="Open Sauce Bold"/>
                <a:ea typeface="Open Sauce Bold"/>
                <a:cs typeface="Open Sauce Bold"/>
                <a:sym typeface="Open Sauce Bold"/>
              </a:rPr>
              <a:t> GUI:</a:t>
            </a:r>
            <a:endParaRPr lang="en-US" sz="3550">
              <a:cs typeface="Calibri"/>
            </a:endParaRPr>
          </a:p>
          <a:p>
            <a:pPr algn="l">
              <a:lnSpc>
                <a:spcPts val="4679"/>
              </a:lnSpc>
            </a:pPr>
            <a:endParaRPr lang="en-US" sz="3599" b="1">
              <a:solidFill>
                <a:srgbClr val="231F20"/>
              </a:solidFill>
              <a:latin typeface="Open Sauce Bold"/>
              <a:ea typeface="Open Sauce Bold"/>
              <a:cs typeface="Open Sauce Bold"/>
              <a:sym typeface="Open Sauce Bold"/>
            </a:endParaRPr>
          </a:p>
          <a:p>
            <a:pPr marL="776605" lvl="1" indent="-387985">
              <a:lnSpc>
                <a:spcPts val="4679"/>
              </a:lnSpc>
              <a:buFont typeface="Arial"/>
              <a:buChar char="•"/>
            </a:pPr>
            <a:r>
              <a:rPr lang="en-US" sz="3550" b="1">
                <a:solidFill>
                  <a:srgbClr val="231F20"/>
                </a:solidFill>
                <a:latin typeface="Open Sauce Bold"/>
                <a:ea typeface="Open Sauce Bold"/>
                <a:cs typeface="Open Sauce Bold"/>
                <a:sym typeface="Open Sauce Bold"/>
              </a:rPr>
              <a:t>User-Friendly Interface:</a:t>
            </a:r>
            <a:r>
              <a:rPr lang="en-US" sz="3550">
                <a:solidFill>
                  <a:srgbClr val="231F20"/>
                </a:solidFill>
                <a:latin typeface="Open Sauce"/>
                <a:ea typeface="Open Sauce"/>
                <a:cs typeface="Open Sauce"/>
                <a:sym typeface="Open Sauce"/>
              </a:rPr>
              <a:t> Providing a simple, accessible layout for users to enter the reviews and receive sentiment-based responses through </a:t>
            </a:r>
            <a:r>
              <a:rPr lang="en-US" sz="3550" err="1">
                <a:solidFill>
                  <a:srgbClr val="231F20"/>
                </a:solidFill>
                <a:latin typeface="Open Sauce"/>
                <a:ea typeface="Open Sauce"/>
                <a:cs typeface="Open Sauce"/>
                <a:sym typeface="Open Sauce"/>
              </a:rPr>
              <a:t>Tkinter</a:t>
            </a:r>
            <a:r>
              <a:rPr lang="en-US" sz="3550">
                <a:solidFill>
                  <a:srgbClr val="231F20"/>
                </a:solidFill>
                <a:latin typeface="Open Sauce"/>
                <a:ea typeface="Open Sauce"/>
                <a:cs typeface="Open Sauce"/>
                <a:sym typeface="Open Sauce"/>
              </a:rPr>
              <a:t>, improving user experience and interaction.</a:t>
            </a:r>
            <a:endParaRPr lang="en-US" sz="3550">
              <a:solidFill>
                <a:srgbClr val="231F20"/>
              </a:solidFill>
              <a:latin typeface="Open Sauce"/>
              <a:ea typeface="Open Sauce"/>
              <a:cs typeface="Open Sauce"/>
            </a:endParaRPr>
          </a:p>
          <a:p>
            <a:pPr marL="776605" lvl="1" indent="-387985" algn="l">
              <a:lnSpc>
                <a:spcPts val="4679"/>
              </a:lnSpc>
              <a:buFont typeface="Arial"/>
              <a:buChar char="•"/>
            </a:pPr>
            <a:r>
              <a:rPr lang="en-US" sz="3550">
                <a:solidFill>
                  <a:srgbClr val="231F20"/>
                </a:solidFill>
                <a:latin typeface="Open Sauce"/>
                <a:ea typeface="Open Sauce"/>
                <a:cs typeface="Open Sauce"/>
                <a:sym typeface="Open Sauce"/>
              </a:rPr>
              <a:t>Additionally, the GUI’s responsive design ensures that users receive real-time feedback, making the interaction smooth and enjoyable.</a:t>
            </a:r>
            <a:endParaRPr lang="en-US" sz="3550">
              <a:solidFill>
                <a:srgbClr val="231F20"/>
              </a:solidFill>
              <a:latin typeface="Open Sauce"/>
              <a:ea typeface="Open Sauce"/>
              <a:cs typeface="Open Sauce"/>
            </a:endParaRPr>
          </a:p>
          <a:p>
            <a:pPr algn="l">
              <a:lnSpc>
                <a:spcPts val="3900"/>
              </a:lnSpc>
            </a:pPr>
            <a:endParaRPr lang="en-US" sz="3599">
              <a:solidFill>
                <a:srgbClr val="231F20"/>
              </a:solidFill>
              <a:latin typeface="Open Sauce"/>
              <a:ea typeface="Open Sauce"/>
              <a:cs typeface="Open Sauce"/>
              <a:sym typeface="Open Sauce"/>
            </a:endParaRP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2434188"/>
            <a:ext cx="8127937" cy="5418625"/>
          </a:xfrm>
          <a:custGeom>
            <a:avLst/>
            <a:gdLst/>
            <a:ahLst/>
            <a:cxnLst/>
            <a:rect l="l" t="t" r="r" b="b"/>
            <a:pathLst>
              <a:path w="8127937" h="5418625">
                <a:moveTo>
                  <a:pt x="0" y="0"/>
                </a:moveTo>
                <a:lnTo>
                  <a:pt x="8127937" y="0"/>
                </a:lnTo>
                <a:lnTo>
                  <a:pt x="8127937" y="5418624"/>
                </a:lnTo>
                <a:lnTo>
                  <a:pt x="0" y="5418624"/>
                </a:lnTo>
                <a:lnTo>
                  <a:pt x="0" y="0"/>
                </a:lnTo>
                <a:close/>
              </a:path>
            </a:pathLst>
          </a:custGeom>
          <a:blipFill>
            <a:blip r:embed="rId5"/>
            <a:stretch>
              <a:fillRect t="-3815" b="-3815"/>
            </a:stretch>
          </a:blipFill>
        </p:spPr>
      </p:sp>
      <p:sp>
        <p:nvSpPr>
          <p:cNvPr id="6" name="Freeform 6"/>
          <p:cNvSpPr/>
          <p:nvPr/>
        </p:nvSpPr>
        <p:spPr>
          <a:xfrm>
            <a:off x="9717976" y="2379158"/>
            <a:ext cx="8293027" cy="5528685"/>
          </a:xfrm>
          <a:custGeom>
            <a:avLst/>
            <a:gdLst/>
            <a:ahLst/>
            <a:cxnLst/>
            <a:rect l="l" t="t" r="r" b="b"/>
            <a:pathLst>
              <a:path w="8293027" h="5528685">
                <a:moveTo>
                  <a:pt x="0" y="0"/>
                </a:moveTo>
                <a:lnTo>
                  <a:pt x="8293027" y="0"/>
                </a:lnTo>
                <a:lnTo>
                  <a:pt x="8293027" y="5528684"/>
                </a:lnTo>
                <a:lnTo>
                  <a:pt x="0" y="5528684"/>
                </a:lnTo>
                <a:lnTo>
                  <a:pt x="0" y="0"/>
                </a:lnTo>
                <a:close/>
              </a:path>
            </a:pathLst>
          </a:custGeom>
          <a:blipFill>
            <a:blip r:embed="rId6"/>
            <a:stretch>
              <a:fillRect t="-2419" b="-2419"/>
            </a:stretch>
          </a:blipFill>
        </p:spPr>
      </p:sp>
      <p:sp>
        <p:nvSpPr>
          <p:cNvPr id="7" name="TextBox 7"/>
          <p:cNvSpPr txBox="1"/>
          <p:nvPr/>
        </p:nvSpPr>
        <p:spPr>
          <a:xfrm>
            <a:off x="2642239" y="135074"/>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RESULTS</a:t>
            </a:r>
          </a:p>
        </p:txBody>
      </p:sp>
      <p:sp>
        <p:nvSpPr>
          <p:cNvPr id="8" name="TextBox 8"/>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4368801" y="2076079"/>
            <a:ext cx="9426361" cy="6285576"/>
          </a:xfrm>
          <a:custGeom>
            <a:avLst/>
            <a:gdLst/>
            <a:ahLst/>
            <a:cxnLst/>
            <a:rect l="l" t="t" r="r" b="b"/>
            <a:pathLst>
              <a:path w="8197636" h="5771226">
                <a:moveTo>
                  <a:pt x="0" y="0"/>
                </a:moveTo>
                <a:lnTo>
                  <a:pt x="8197636" y="0"/>
                </a:lnTo>
                <a:lnTo>
                  <a:pt x="8197636" y="5771226"/>
                </a:lnTo>
                <a:lnTo>
                  <a:pt x="0" y="5771226"/>
                </a:lnTo>
                <a:lnTo>
                  <a:pt x="0" y="0"/>
                </a:lnTo>
                <a:close/>
              </a:path>
            </a:pathLst>
          </a:custGeom>
          <a:blipFill>
            <a:blip r:embed="rId5"/>
            <a:stretch>
              <a:fillRect/>
            </a:stretch>
          </a:blipFill>
        </p:spPr>
      </p:sp>
      <p:sp>
        <p:nvSpPr>
          <p:cNvPr id="7" name="TextBox 7"/>
          <p:cNvSpPr txBox="1"/>
          <p:nvPr/>
        </p:nvSpPr>
        <p:spPr>
          <a:xfrm>
            <a:off x="2642239" y="135074"/>
            <a:ext cx="11552977" cy="1166783"/>
          </a:xfrm>
          <a:prstGeom prst="rect">
            <a:avLst/>
          </a:prstGeom>
        </p:spPr>
        <p:txBody>
          <a:bodyPr lIns="0" tIns="0" rIns="0" bIns="0" rtlCol="0" anchor="t">
            <a:spAutoFit/>
          </a:bodyPr>
          <a:lstStyle/>
          <a:p>
            <a:pPr algn="ctr">
              <a:lnSpc>
                <a:spcPts val="9587"/>
              </a:lnSpc>
            </a:pPr>
            <a:r>
              <a:rPr lang="en-US" sz="6947" b="1" spc="368">
                <a:solidFill>
                  <a:srgbClr val="231F20"/>
                </a:solidFill>
                <a:latin typeface="Oswald Bold"/>
                <a:ea typeface="Oswald Bold"/>
                <a:cs typeface="Oswald Bold"/>
                <a:sym typeface="Oswald Bold"/>
              </a:rPr>
              <a:t>RESULTS</a:t>
            </a:r>
          </a:p>
        </p:txBody>
      </p:sp>
      <p:sp>
        <p:nvSpPr>
          <p:cNvPr id="8" name="TextBox 8"/>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grpSp>
        <p:nvGrpSpPr>
          <p:cNvPr id="2" name="Group 2"/>
          <p:cNvGrpSpPr/>
          <p:nvPr/>
        </p:nvGrpSpPr>
        <p:grpSpPr>
          <a:xfrm>
            <a:off x="-2770706" y="-3368517"/>
            <a:ext cx="4959890" cy="495989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4F5"/>
            </a:solidFill>
          </p:spPr>
        </p:sp>
        <p:sp>
          <p:nvSpPr>
            <p:cNvPr id="4" name="TextBox 4"/>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5" name="Group 5"/>
          <p:cNvGrpSpPr/>
          <p:nvPr/>
        </p:nvGrpSpPr>
        <p:grpSpPr>
          <a:xfrm>
            <a:off x="9856527" y="1028700"/>
            <a:ext cx="13188954" cy="1318895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4F5"/>
            </a:solidFill>
          </p:spPr>
        </p:sp>
        <p:sp>
          <p:nvSpPr>
            <p:cNvPr id="7" name="TextBox 7"/>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6639105" y="-5979128"/>
            <a:ext cx="12110389" cy="12426705"/>
          </a:xfrm>
          <a:custGeom>
            <a:avLst/>
            <a:gdLst/>
            <a:ahLst/>
            <a:cxnLst/>
            <a:rect l="l" t="t" r="r" b="b"/>
            <a:pathLst>
              <a:path w="12110389" h="12426705">
                <a:moveTo>
                  <a:pt x="0" y="0"/>
                </a:moveTo>
                <a:lnTo>
                  <a:pt x="12110389" y="0"/>
                </a:lnTo>
                <a:lnTo>
                  <a:pt x="12110389" y="12426706"/>
                </a:lnTo>
                <a:lnTo>
                  <a:pt x="0" y="124267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720102" y="3376069"/>
            <a:ext cx="7942168" cy="1396186"/>
          </a:xfrm>
          <a:prstGeom prst="rect">
            <a:avLst/>
          </a:prstGeom>
        </p:spPr>
        <p:txBody>
          <a:bodyPr lIns="0" tIns="0" rIns="0" bIns="0" rtlCol="0" anchor="t">
            <a:spAutoFit/>
          </a:bodyPr>
          <a:lstStyle/>
          <a:p>
            <a:pPr algn="l">
              <a:lnSpc>
                <a:spcPts val="11349"/>
              </a:lnSpc>
            </a:pPr>
            <a:r>
              <a:rPr lang="en-US" sz="8224" b="1" spc="806">
                <a:solidFill>
                  <a:srgbClr val="FFFFFF"/>
                </a:solidFill>
                <a:latin typeface="Oswald Bold"/>
                <a:ea typeface="Oswald Bold"/>
                <a:cs typeface="Oswald Bold"/>
                <a:sym typeface="Oswald Bold"/>
              </a:rPr>
              <a:t>ACCURACY</a:t>
            </a:r>
          </a:p>
        </p:txBody>
      </p:sp>
      <p:sp>
        <p:nvSpPr>
          <p:cNvPr id="10" name="TextBox 10"/>
          <p:cNvSpPr txBox="1"/>
          <p:nvPr/>
        </p:nvSpPr>
        <p:spPr>
          <a:xfrm>
            <a:off x="2515244" y="5095875"/>
            <a:ext cx="6632418" cy="2533066"/>
          </a:xfrm>
          <a:prstGeom prst="rect">
            <a:avLst/>
          </a:prstGeom>
        </p:spPr>
        <p:txBody>
          <a:bodyPr lIns="0" tIns="0" rIns="0" bIns="0" rtlCol="0" anchor="t">
            <a:spAutoFit/>
          </a:bodyPr>
          <a:lstStyle/>
          <a:p>
            <a:pPr>
              <a:lnSpc>
                <a:spcPts val="3992"/>
              </a:lnSpc>
            </a:pPr>
            <a:r>
              <a:rPr lang="en-US" sz="2850" spc="283">
                <a:solidFill>
                  <a:srgbClr val="F5FFF5"/>
                </a:solidFill>
                <a:ea typeface="+mn-lt"/>
                <a:cs typeface="+mn-lt"/>
                <a:sym typeface="DM Sans"/>
              </a:rPr>
              <a:t>The Random Forest classifier accurately detects sentiment by understanding the different ways people express themselves in reviews.</a:t>
            </a:r>
            <a:endParaRPr lang="en-US"/>
          </a:p>
        </p:txBody>
      </p:sp>
      <p:sp>
        <p:nvSpPr>
          <p:cNvPr id="11" name="TextBox 11"/>
          <p:cNvSpPr txBox="1"/>
          <p:nvPr/>
        </p:nvSpPr>
        <p:spPr>
          <a:xfrm>
            <a:off x="10349972" y="3530304"/>
            <a:ext cx="7202160" cy="3275399"/>
          </a:xfrm>
          <a:prstGeom prst="rect">
            <a:avLst/>
          </a:prstGeom>
        </p:spPr>
        <p:txBody>
          <a:bodyPr lIns="0" tIns="0" rIns="0" bIns="0" rtlCol="0" anchor="t">
            <a:spAutoFit/>
          </a:bodyPr>
          <a:lstStyle/>
          <a:p>
            <a:pPr marL="0" lvl="0" indent="0" algn="ctr">
              <a:lnSpc>
                <a:spcPts val="26787"/>
              </a:lnSpc>
              <a:spcBef>
                <a:spcPct val="0"/>
              </a:spcBef>
            </a:pPr>
            <a:r>
              <a:rPr lang="en-US" sz="19411" b="1">
                <a:solidFill>
                  <a:srgbClr val="231F20"/>
                </a:solidFill>
                <a:latin typeface="Oswald Bold"/>
                <a:ea typeface="Oswald Bold"/>
                <a:cs typeface="Oswald Bold"/>
                <a:sym typeface="Oswald Bold"/>
              </a:rPr>
              <a:t>80%</a:t>
            </a: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257863">
            <a:off x="-1840493" y="6752189"/>
            <a:ext cx="21273218" cy="9128145"/>
          </a:xfrm>
          <a:custGeom>
            <a:avLst/>
            <a:gdLst/>
            <a:ahLst/>
            <a:cxnLst/>
            <a:rect l="l" t="t" r="r" b="b"/>
            <a:pathLst>
              <a:path w="21273218" h="9128145">
                <a:moveTo>
                  <a:pt x="0" y="0"/>
                </a:moveTo>
                <a:lnTo>
                  <a:pt x="21273218" y="0"/>
                </a:lnTo>
                <a:lnTo>
                  <a:pt x="21273218" y="9128144"/>
                </a:lnTo>
                <a:lnTo>
                  <a:pt x="0" y="91281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1885510" y="8765585"/>
            <a:ext cx="4128022" cy="437161"/>
          </a:xfrm>
          <a:custGeom>
            <a:avLst/>
            <a:gdLst/>
            <a:ahLst/>
            <a:cxnLst/>
            <a:rect l="l" t="t" r="r" b="b"/>
            <a:pathLst>
              <a:path w="4128022" h="437161">
                <a:moveTo>
                  <a:pt x="0" y="0"/>
                </a:moveTo>
                <a:lnTo>
                  <a:pt x="4128022" y="0"/>
                </a:lnTo>
                <a:lnTo>
                  <a:pt x="4128022" y="437161"/>
                </a:lnTo>
                <a:lnTo>
                  <a:pt x="0" y="437161"/>
                </a:lnTo>
                <a:lnTo>
                  <a:pt x="0" y="0"/>
                </a:lnTo>
                <a:close/>
              </a:path>
            </a:pathLst>
          </a:custGeom>
          <a:blipFill>
            <a:blip r:embed="rId5"/>
            <a:stretch>
              <a:fillRect t="-86495"/>
            </a:stretch>
          </a:blipFill>
        </p:spPr>
      </p:sp>
      <p:grpSp>
        <p:nvGrpSpPr>
          <p:cNvPr id="5" name="Group 5"/>
          <p:cNvGrpSpPr/>
          <p:nvPr/>
        </p:nvGrpSpPr>
        <p:grpSpPr>
          <a:xfrm>
            <a:off x="1796373" y="2563640"/>
            <a:ext cx="15780804" cy="6294219"/>
            <a:chOff x="0" y="0"/>
            <a:chExt cx="4909842" cy="1958305"/>
          </a:xfrm>
        </p:grpSpPr>
        <p:sp>
          <p:nvSpPr>
            <p:cNvPr id="6" name="Freeform 6"/>
            <p:cNvSpPr/>
            <p:nvPr/>
          </p:nvSpPr>
          <p:spPr>
            <a:xfrm>
              <a:off x="0" y="0"/>
              <a:ext cx="4909842" cy="1958305"/>
            </a:xfrm>
            <a:custGeom>
              <a:avLst/>
              <a:gdLst/>
              <a:ahLst/>
              <a:cxnLst/>
              <a:rect l="l" t="t" r="r" b="b"/>
              <a:pathLst>
                <a:path w="4909842" h="1958305">
                  <a:moveTo>
                    <a:pt x="0" y="0"/>
                  </a:moveTo>
                  <a:lnTo>
                    <a:pt x="4909842" y="0"/>
                  </a:lnTo>
                  <a:lnTo>
                    <a:pt x="4909842" y="1958305"/>
                  </a:lnTo>
                  <a:lnTo>
                    <a:pt x="0" y="1958305"/>
                  </a:lnTo>
                  <a:close/>
                </a:path>
              </a:pathLst>
            </a:custGeom>
            <a:solidFill>
              <a:srgbClr val="1A1A1A"/>
            </a:solidFill>
          </p:spPr>
        </p:sp>
        <p:sp>
          <p:nvSpPr>
            <p:cNvPr id="7" name="TextBox 7"/>
            <p:cNvSpPr txBox="1"/>
            <p:nvPr/>
          </p:nvSpPr>
          <p:spPr>
            <a:xfrm>
              <a:off x="0" y="-66675"/>
              <a:ext cx="4909842" cy="2024980"/>
            </a:xfrm>
            <a:prstGeom prst="rect">
              <a:avLst/>
            </a:prstGeom>
          </p:spPr>
          <p:txBody>
            <a:bodyPr lIns="50800" tIns="50800" rIns="50800" bIns="50800" rtlCol="0" anchor="ctr"/>
            <a:lstStyle/>
            <a:p>
              <a:pPr marL="643739" lvl="1" indent="-321870" algn="l">
                <a:lnSpc>
                  <a:spcPts val="4114"/>
                </a:lnSpc>
                <a:buFont typeface="Arial"/>
                <a:buChar char="•"/>
              </a:pPr>
              <a:r>
                <a:rPr lang="en-US" sz="2981" spc="29">
                  <a:solidFill>
                    <a:srgbClr val="FFFFFF"/>
                  </a:solidFill>
                  <a:latin typeface="Montserrat Classic"/>
                  <a:ea typeface="Montserrat Classic"/>
                  <a:cs typeface="Montserrat Classic"/>
                  <a:sym typeface="Montserrat Classic"/>
                </a:rPr>
                <a:t>The sentiment analysis chatbot, powered by a Random Forest classifier, classifies reviews as positive, neutral, or negative, providing instant insights into customer feedback. </a:t>
              </a:r>
            </a:p>
            <a:p>
              <a:pPr algn="l">
                <a:lnSpc>
                  <a:spcPts val="4114"/>
                </a:lnSpc>
              </a:pPr>
              <a:endParaRPr lang="en-US" sz="2981" spc="29">
                <a:solidFill>
                  <a:srgbClr val="FFFFFF"/>
                </a:solidFill>
                <a:latin typeface="Montserrat Classic"/>
                <a:ea typeface="Montserrat Classic"/>
                <a:cs typeface="Montserrat Classic"/>
                <a:sym typeface="Montserrat Classic"/>
              </a:endParaRPr>
            </a:p>
            <a:p>
              <a:pPr marL="643739" lvl="1" indent="-321870" algn="l">
                <a:lnSpc>
                  <a:spcPts val="4114"/>
                </a:lnSpc>
                <a:buFont typeface="Arial"/>
                <a:buChar char="•"/>
              </a:pPr>
              <a:r>
                <a:rPr lang="en-US" sz="2981" spc="29">
                  <a:solidFill>
                    <a:srgbClr val="FFFFFF"/>
                  </a:solidFill>
                  <a:latin typeface="Montserrat Classic"/>
                  <a:ea typeface="Montserrat Classic"/>
                  <a:cs typeface="Montserrat Classic"/>
                  <a:sym typeface="Montserrat Classic"/>
                </a:rPr>
                <a:t>This enables prompt, sentiment-driven responses, improving customer satisfaction and engagement.</a:t>
              </a:r>
            </a:p>
            <a:p>
              <a:pPr algn="l">
                <a:lnSpc>
                  <a:spcPts val="4114"/>
                </a:lnSpc>
              </a:pPr>
              <a:endParaRPr lang="en-US" sz="2981" spc="29">
                <a:solidFill>
                  <a:srgbClr val="FFFFFF"/>
                </a:solidFill>
                <a:latin typeface="Montserrat Classic"/>
                <a:ea typeface="Montserrat Classic"/>
                <a:cs typeface="Montserrat Classic"/>
                <a:sym typeface="Montserrat Classic"/>
              </a:endParaRPr>
            </a:p>
            <a:p>
              <a:pPr marL="643739" lvl="1" indent="-321870" algn="l">
                <a:lnSpc>
                  <a:spcPts val="4114"/>
                </a:lnSpc>
                <a:buFont typeface="Arial"/>
                <a:buChar char="•"/>
              </a:pPr>
              <a:r>
                <a:rPr lang="en-US" sz="2981" spc="29">
                  <a:solidFill>
                    <a:srgbClr val="FFFFFF"/>
                  </a:solidFill>
                  <a:latin typeface="Montserrat Classic"/>
                  <a:ea typeface="Montserrat Classic"/>
                  <a:cs typeface="Montserrat Classic"/>
                  <a:sym typeface="Montserrat Classic"/>
                </a:rPr>
                <a:t>Tkinter GUI and efficient TF-IDF vectorization, the chatbot delivers fast, accurate sentiment analysis. </a:t>
              </a:r>
            </a:p>
            <a:p>
              <a:pPr algn="l">
                <a:lnSpc>
                  <a:spcPts val="4114"/>
                </a:lnSpc>
              </a:pPr>
              <a:endParaRPr lang="en-US" sz="2981" spc="29">
                <a:solidFill>
                  <a:srgbClr val="FFFFFF"/>
                </a:solidFill>
                <a:latin typeface="Montserrat Classic"/>
                <a:ea typeface="Montserrat Classic"/>
                <a:cs typeface="Montserrat Classic"/>
                <a:sym typeface="Montserrat Classic"/>
              </a:endParaRPr>
            </a:p>
            <a:p>
              <a:pPr marL="643739" lvl="1" indent="-321870" algn="l">
                <a:lnSpc>
                  <a:spcPts val="4114"/>
                </a:lnSpc>
                <a:buFont typeface="Arial"/>
                <a:buChar char="•"/>
              </a:pPr>
              <a:r>
                <a:rPr lang="en-US" sz="2981" spc="29">
                  <a:solidFill>
                    <a:srgbClr val="FFFFFF"/>
                  </a:solidFill>
                  <a:latin typeface="Montserrat Classic"/>
                  <a:ea typeface="Montserrat Classic"/>
                  <a:cs typeface="Montserrat Classic"/>
                  <a:sym typeface="Montserrat Classic"/>
                </a:rPr>
                <a:t>It’s a valuable tool for enhancing customer relations and supporting business growth.</a:t>
              </a:r>
            </a:p>
          </p:txBody>
        </p:sp>
      </p:grpSp>
      <p:sp>
        <p:nvSpPr>
          <p:cNvPr id="8" name="Freeform 8"/>
          <p:cNvSpPr/>
          <p:nvPr/>
        </p:nvSpPr>
        <p:spPr>
          <a:xfrm>
            <a:off x="7080191" y="8765585"/>
            <a:ext cx="4128022" cy="437161"/>
          </a:xfrm>
          <a:custGeom>
            <a:avLst/>
            <a:gdLst/>
            <a:ahLst/>
            <a:cxnLst/>
            <a:rect l="l" t="t" r="r" b="b"/>
            <a:pathLst>
              <a:path w="4128022" h="437161">
                <a:moveTo>
                  <a:pt x="0" y="0"/>
                </a:moveTo>
                <a:lnTo>
                  <a:pt x="4128021" y="0"/>
                </a:lnTo>
                <a:lnTo>
                  <a:pt x="4128021" y="437161"/>
                </a:lnTo>
                <a:lnTo>
                  <a:pt x="0" y="437161"/>
                </a:lnTo>
                <a:lnTo>
                  <a:pt x="0" y="0"/>
                </a:lnTo>
                <a:close/>
              </a:path>
            </a:pathLst>
          </a:custGeom>
          <a:blipFill>
            <a:blip r:embed="rId5"/>
            <a:stretch>
              <a:fillRect t="-86495"/>
            </a:stretch>
          </a:blipFill>
        </p:spPr>
      </p:sp>
      <p:sp>
        <p:nvSpPr>
          <p:cNvPr id="9" name="Freeform 9"/>
          <p:cNvSpPr/>
          <p:nvPr/>
        </p:nvSpPr>
        <p:spPr>
          <a:xfrm>
            <a:off x="2274468" y="8765585"/>
            <a:ext cx="4128022" cy="437161"/>
          </a:xfrm>
          <a:custGeom>
            <a:avLst/>
            <a:gdLst/>
            <a:ahLst/>
            <a:cxnLst/>
            <a:rect l="l" t="t" r="r" b="b"/>
            <a:pathLst>
              <a:path w="4128022" h="437161">
                <a:moveTo>
                  <a:pt x="0" y="0"/>
                </a:moveTo>
                <a:lnTo>
                  <a:pt x="4128022" y="0"/>
                </a:lnTo>
                <a:lnTo>
                  <a:pt x="4128022" y="437161"/>
                </a:lnTo>
                <a:lnTo>
                  <a:pt x="0" y="437161"/>
                </a:lnTo>
                <a:lnTo>
                  <a:pt x="0" y="0"/>
                </a:lnTo>
                <a:close/>
              </a:path>
            </a:pathLst>
          </a:custGeom>
          <a:blipFill>
            <a:blip r:embed="rId5"/>
            <a:stretch>
              <a:fillRect t="-86495"/>
            </a:stretch>
          </a:blipFill>
        </p:spPr>
      </p:sp>
      <p:sp>
        <p:nvSpPr>
          <p:cNvPr id="10" name="TextBox 10"/>
          <p:cNvSpPr txBox="1"/>
          <p:nvPr/>
        </p:nvSpPr>
        <p:spPr>
          <a:xfrm>
            <a:off x="2121132" y="643286"/>
            <a:ext cx="13617940" cy="1594138"/>
          </a:xfrm>
          <a:prstGeom prst="rect">
            <a:avLst/>
          </a:prstGeom>
        </p:spPr>
        <p:txBody>
          <a:bodyPr lIns="0" tIns="0" rIns="0" bIns="0" rtlCol="0" anchor="t">
            <a:spAutoFit/>
          </a:bodyPr>
          <a:lstStyle/>
          <a:p>
            <a:pPr marL="0" lvl="0" indent="0" algn="ctr">
              <a:lnSpc>
                <a:spcPts val="13015"/>
              </a:lnSpc>
              <a:spcBef>
                <a:spcPct val="0"/>
              </a:spcBef>
            </a:pPr>
            <a:r>
              <a:rPr lang="en-US" sz="9431" b="1" spc="924">
                <a:solidFill>
                  <a:srgbClr val="231F20"/>
                </a:solidFill>
                <a:latin typeface="Oswald Bold"/>
                <a:ea typeface="Oswald Bold"/>
                <a:cs typeface="Oswald Bold"/>
                <a:sym typeface="Oswald Bold"/>
              </a:rPr>
              <a:t>CONCLUSION</a:t>
            </a:r>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2A5E4-99EE-7C78-3AC4-A07D859B0C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57BFB3-725A-33ED-CB31-0CA2B33EF4A8}"/>
              </a:ext>
            </a:extLst>
          </p:cNvPr>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a:extLst>
              <a:ext uri="{FF2B5EF4-FFF2-40B4-BE49-F238E27FC236}">
                <a16:creationId xmlns:a16="http://schemas.microsoft.com/office/drawing/2014/main" id="{7FE41C98-5497-34CA-2BA1-8C0C503B1595}"/>
              </a:ext>
            </a:extLst>
          </p:cNvPr>
          <p:cNvSpPr txBox="1"/>
          <p:nvPr/>
        </p:nvSpPr>
        <p:spPr>
          <a:xfrm>
            <a:off x="2642239" y="135074"/>
            <a:ext cx="11552977" cy="1166783"/>
          </a:xfrm>
          <a:prstGeom prst="rect">
            <a:avLst/>
          </a:prstGeom>
        </p:spPr>
        <p:txBody>
          <a:bodyPr lIns="0" tIns="0" rIns="0" bIns="0" rtlCol="0" anchor="t">
            <a:spAutoFit/>
          </a:bodyPr>
          <a:lstStyle/>
          <a:p>
            <a:pPr algn="ctr">
              <a:lnSpc>
                <a:spcPts val="9587"/>
              </a:lnSpc>
            </a:pPr>
            <a:r>
              <a:rPr lang="en-US" sz="6947" b="1" spc="368" dirty="0">
                <a:solidFill>
                  <a:srgbClr val="231F20"/>
                </a:solidFill>
                <a:latin typeface="Oswald Bold"/>
                <a:ea typeface="Oswald Bold"/>
                <a:cs typeface="Oswald Bold"/>
                <a:sym typeface="Oswald Bold"/>
              </a:rPr>
              <a:t>FUTURE SCOPE</a:t>
            </a:r>
          </a:p>
        </p:txBody>
      </p:sp>
      <p:sp>
        <p:nvSpPr>
          <p:cNvPr id="4" name="Freeform 4">
            <a:extLst>
              <a:ext uri="{FF2B5EF4-FFF2-40B4-BE49-F238E27FC236}">
                <a16:creationId xmlns:a16="http://schemas.microsoft.com/office/drawing/2014/main" id="{432A0550-7984-7A96-A8E6-EB275FB9EA69}"/>
              </a:ext>
            </a:extLst>
          </p:cNvPr>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DA2B7C68-248B-0C37-82BB-896E230432C9}"/>
              </a:ext>
            </a:extLst>
          </p:cNvPr>
          <p:cNvSpPr/>
          <p:nvPr/>
        </p:nvSpPr>
        <p:spPr>
          <a:xfrm rot="-4176364">
            <a:off x="-4416860" y="7153698"/>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a:extLst>
              <a:ext uri="{FF2B5EF4-FFF2-40B4-BE49-F238E27FC236}">
                <a16:creationId xmlns:a16="http://schemas.microsoft.com/office/drawing/2014/main" id="{00B24B2C-4712-20D4-7EAD-DD947989B0C4}"/>
              </a:ext>
            </a:extLst>
          </p:cNvPr>
          <p:cNvSpPr txBox="1"/>
          <p:nvPr/>
        </p:nvSpPr>
        <p:spPr>
          <a:xfrm>
            <a:off x="494132" y="4269320"/>
            <a:ext cx="10175728" cy="406400"/>
          </a:xfrm>
          <a:prstGeom prst="rect">
            <a:avLst/>
          </a:prstGeom>
        </p:spPr>
        <p:txBody>
          <a:bodyPr lIns="0" tIns="0" rIns="0" bIns="0" rtlCol="0" anchor="t">
            <a:spAutoFit/>
          </a:bodyPr>
          <a:lstStyle/>
          <a:p>
            <a:pPr algn="ctr">
              <a:lnSpc>
                <a:spcPts val="3249"/>
              </a:lnSpc>
              <a:spcBef>
                <a:spcPct val="0"/>
              </a:spcBef>
            </a:pPr>
            <a:endParaRPr/>
          </a:p>
        </p:txBody>
      </p:sp>
      <p:sp>
        <p:nvSpPr>
          <p:cNvPr id="7" name="TextBox 7">
            <a:extLst>
              <a:ext uri="{FF2B5EF4-FFF2-40B4-BE49-F238E27FC236}">
                <a16:creationId xmlns:a16="http://schemas.microsoft.com/office/drawing/2014/main" id="{ECDC1882-1ED6-426E-7EE1-4B727A836C2E}"/>
              </a:ext>
            </a:extLst>
          </p:cNvPr>
          <p:cNvSpPr txBox="1"/>
          <p:nvPr/>
        </p:nvSpPr>
        <p:spPr>
          <a:xfrm>
            <a:off x="9139238" y="4957445"/>
            <a:ext cx="9525" cy="353060"/>
          </a:xfrm>
          <a:prstGeom prst="rect">
            <a:avLst/>
          </a:prstGeom>
        </p:spPr>
        <p:txBody>
          <a:bodyPr lIns="0" tIns="0" rIns="0" bIns="0" rtlCol="0" anchor="t">
            <a:spAutoFit/>
          </a:bodyPr>
          <a:lstStyle/>
          <a:p>
            <a:pPr algn="ctr">
              <a:lnSpc>
                <a:spcPts val="2859"/>
              </a:lnSpc>
              <a:spcBef>
                <a:spcPct val="0"/>
              </a:spcBef>
            </a:pPr>
            <a:endParaRPr/>
          </a:p>
        </p:txBody>
      </p:sp>
      <p:sp>
        <p:nvSpPr>
          <p:cNvPr id="8" name="TextBox 8">
            <a:extLst>
              <a:ext uri="{FF2B5EF4-FFF2-40B4-BE49-F238E27FC236}">
                <a16:creationId xmlns:a16="http://schemas.microsoft.com/office/drawing/2014/main" id="{5EF90B43-765D-264B-6427-5BB9A38B5AD3}"/>
              </a:ext>
            </a:extLst>
          </p:cNvPr>
          <p:cNvSpPr txBox="1"/>
          <p:nvPr/>
        </p:nvSpPr>
        <p:spPr>
          <a:xfrm>
            <a:off x="707764" y="2644775"/>
            <a:ext cx="16862947" cy="4719241"/>
          </a:xfrm>
          <a:prstGeom prst="rect">
            <a:avLst/>
          </a:prstGeom>
        </p:spPr>
        <p:txBody>
          <a:bodyPr lIns="0" tIns="0" rIns="0" bIns="0" rtlCol="0" anchor="t">
            <a:spAutoFit/>
          </a:bodyPr>
          <a:lstStyle/>
          <a:p>
            <a:pPr marL="960119" lvl="1" indent="-571500" algn="l">
              <a:lnSpc>
                <a:spcPts val="4679"/>
              </a:lnSpc>
              <a:buFont typeface="Arial" panose="020B0604020202020204" pitchFamily="34" charset="0"/>
              <a:buChar char="•"/>
            </a:pPr>
            <a:r>
              <a:rPr lang="en-US" sz="3599" dirty="0">
                <a:solidFill>
                  <a:srgbClr val="231F20"/>
                </a:solidFill>
                <a:latin typeface="Open Sauce"/>
                <a:ea typeface="Open Sauce"/>
                <a:cs typeface="Open Sauce"/>
                <a:sym typeface="Open Sauce"/>
              </a:rPr>
              <a:t>Additionally, the GUI’s response </a:t>
            </a:r>
            <a:r>
              <a:rPr lang="en-US" sz="3600" dirty="0"/>
              <a:t>Future enhancements for this sentiment analysis chatbot could include adding sarcasm detection to handle more nuanced sentiments, improving accuracy in cases where tone may differ from word choice.</a:t>
            </a:r>
          </a:p>
          <a:p>
            <a:pPr marL="388619" lvl="1" algn="l">
              <a:lnSpc>
                <a:spcPts val="4679"/>
              </a:lnSpc>
            </a:pPr>
            <a:r>
              <a:rPr lang="en-US" sz="3600" dirty="0"/>
              <a:t> </a:t>
            </a:r>
          </a:p>
          <a:p>
            <a:pPr marL="960119" lvl="1" indent="-571500" algn="l">
              <a:lnSpc>
                <a:spcPts val="4679"/>
              </a:lnSpc>
              <a:buFont typeface="Arial" panose="020B0604020202020204" pitchFamily="34" charset="0"/>
              <a:buChar char="•"/>
            </a:pPr>
            <a:r>
              <a:rPr lang="en-US" sz="3600" dirty="0"/>
              <a:t>Finally, integrating more advanced NLP techniques, such as deep learning-based sentiment models, could further enhance accuracy and adaptability to complex feedback.</a:t>
            </a:r>
            <a:endParaRPr lang="en-US" sz="3599" dirty="0">
              <a:solidFill>
                <a:srgbClr val="231F20"/>
              </a:solidFill>
              <a:latin typeface="Open Sauce"/>
              <a:ea typeface="Open Sauce"/>
              <a:cs typeface="Open Sauce"/>
              <a:sym typeface="Open Sauce"/>
            </a:endParaRPr>
          </a:p>
          <a:p>
            <a:pPr algn="l">
              <a:lnSpc>
                <a:spcPts val="3900"/>
              </a:lnSpc>
            </a:pPr>
            <a:endParaRPr lang="en-US" sz="3599" dirty="0">
              <a:solidFill>
                <a:srgbClr val="231F20"/>
              </a:solidFill>
              <a:latin typeface="Open Sauce"/>
              <a:ea typeface="Open Sauce"/>
              <a:cs typeface="Open Sauce"/>
              <a:sym typeface="Open Sauce"/>
            </a:endParaRPr>
          </a:p>
        </p:txBody>
      </p:sp>
    </p:spTree>
    <p:extLst>
      <p:ext uri="{BB962C8B-B14F-4D97-AF65-F5344CB8AC3E}">
        <p14:creationId xmlns:p14="http://schemas.microsoft.com/office/powerpoint/2010/main" val="2637645914"/>
      </p:ext>
    </p:extLst>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10580377">
            <a:off x="10564996" y="-8864634"/>
            <a:ext cx="24036383" cy="24664199"/>
          </a:xfrm>
          <a:custGeom>
            <a:avLst/>
            <a:gdLst/>
            <a:ahLst/>
            <a:cxnLst/>
            <a:rect l="l" t="t" r="r" b="b"/>
            <a:pathLst>
              <a:path w="24036383" h="24664199">
                <a:moveTo>
                  <a:pt x="0" y="0"/>
                </a:moveTo>
                <a:lnTo>
                  <a:pt x="24036383" y="0"/>
                </a:lnTo>
                <a:lnTo>
                  <a:pt x="24036383" y="24664198"/>
                </a:lnTo>
                <a:lnTo>
                  <a:pt x="0" y="246641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4254153" y="7476061"/>
            <a:ext cx="11881594" cy="3564478"/>
          </a:xfrm>
          <a:custGeom>
            <a:avLst/>
            <a:gdLst/>
            <a:ahLst/>
            <a:cxnLst/>
            <a:rect l="l" t="t" r="r" b="b"/>
            <a:pathLst>
              <a:path w="11881594" h="3564478">
                <a:moveTo>
                  <a:pt x="11881594" y="0"/>
                </a:moveTo>
                <a:lnTo>
                  <a:pt x="0" y="0"/>
                </a:lnTo>
                <a:lnTo>
                  <a:pt x="0" y="3564478"/>
                </a:lnTo>
                <a:lnTo>
                  <a:pt x="11881594" y="3564478"/>
                </a:lnTo>
                <a:lnTo>
                  <a:pt x="11881594"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1450401" y="3861838"/>
            <a:ext cx="8097687" cy="1812077"/>
          </a:xfrm>
          <a:prstGeom prst="rect">
            <a:avLst/>
          </a:prstGeom>
        </p:spPr>
        <p:txBody>
          <a:bodyPr lIns="0" tIns="0" rIns="0" bIns="0" rtlCol="0" anchor="t">
            <a:spAutoFit/>
          </a:bodyPr>
          <a:lstStyle/>
          <a:p>
            <a:pPr marL="0" lvl="0" indent="0" algn="l">
              <a:lnSpc>
                <a:spcPts val="14809"/>
              </a:lnSpc>
              <a:spcBef>
                <a:spcPct val="0"/>
              </a:spcBef>
            </a:pPr>
            <a:r>
              <a:rPr lang="en-US" sz="10731" b="1" spc="1051">
                <a:solidFill>
                  <a:srgbClr val="231F20"/>
                </a:solidFill>
                <a:latin typeface="Oswald Bold"/>
                <a:ea typeface="Oswald Bold"/>
                <a:cs typeface="Oswald Bold"/>
                <a:sym typeface="Oswald Bold"/>
              </a:rPr>
              <a:t>THANK YOU</a:t>
            </a:r>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a:off x="2190716" y="1913976"/>
            <a:ext cx="2027545" cy="3080525"/>
          </a:xfrm>
          <a:custGeom>
            <a:avLst/>
            <a:gdLst/>
            <a:ahLst/>
            <a:cxnLst/>
            <a:rect l="l" t="t" r="r" b="b"/>
            <a:pathLst>
              <a:path w="2027545" h="308052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2035253">
            <a:off x="15331117" y="4817487"/>
            <a:ext cx="7835077" cy="10939025"/>
          </a:xfrm>
          <a:custGeom>
            <a:avLst/>
            <a:gdLst/>
            <a:ahLst/>
            <a:cxnLst/>
            <a:rect l="l" t="t" r="r" b="b"/>
            <a:pathLst>
              <a:path w="7835077" h="10939025">
                <a:moveTo>
                  <a:pt x="0" y="0"/>
                </a:moveTo>
                <a:lnTo>
                  <a:pt x="7835077" y="0"/>
                </a:lnTo>
                <a:lnTo>
                  <a:pt x="7835077" y="10939026"/>
                </a:lnTo>
                <a:lnTo>
                  <a:pt x="0" y="109390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AutoShape 5"/>
          <p:cNvSpPr/>
          <p:nvPr/>
        </p:nvSpPr>
        <p:spPr>
          <a:xfrm>
            <a:off x="1589541" y="5472067"/>
            <a:ext cx="15108918" cy="0"/>
          </a:xfrm>
          <a:prstGeom prst="line">
            <a:avLst/>
          </a:prstGeom>
          <a:ln w="38100" cap="flat">
            <a:solidFill>
              <a:srgbClr val="000000"/>
            </a:solidFill>
            <a:prstDash val="solid"/>
            <a:headEnd type="none" w="sm" len="sm"/>
            <a:tailEnd type="none" w="sm" len="sm"/>
          </a:ln>
        </p:spPr>
      </p:sp>
      <p:grpSp>
        <p:nvGrpSpPr>
          <p:cNvPr id="6" name="Group 6"/>
          <p:cNvGrpSpPr/>
          <p:nvPr/>
        </p:nvGrpSpPr>
        <p:grpSpPr>
          <a:xfrm>
            <a:off x="2953947" y="5143500"/>
            <a:ext cx="501082" cy="50108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id="8" name="TextBox 8"/>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2208510" y="2332525"/>
            <a:ext cx="2027545" cy="1121713"/>
          </a:xfrm>
          <a:prstGeom prst="rect">
            <a:avLst/>
          </a:prstGeom>
        </p:spPr>
        <p:txBody>
          <a:bodyPr lIns="0" tIns="0" rIns="0" bIns="0" rtlCol="0" anchor="t">
            <a:spAutoFit/>
          </a:bodyPr>
          <a:lstStyle/>
          <a:p>
            <a:pPr algn="ctr">
              <a:lnSpc>
                <a:spcPts val="9141"/>
              </a:lnSpc>
            </a:pPr>
            <a:r>
              <a:rPr lang="en-US" sz="6624" b="1" spc="649">
                <a:solidFill>
                  <a:srgbClr val="FFFBFB"/>
                </a:solidFill>
                <a:latin typeface="DM Sans Bold"/>
                <a:ea typeface="DM Sans Bold"/>
                <a:cs typeface="DM Sans Bold"/>
                <a:sym typeface="DM Sans Bold"/>
              </a:rPr>
              <a:t>07</a:t>
            </a:r>
          </a:p>
        </p:txBody>
      </p:sp>
      <p:sp>
        <p:nvSpPr>
          <p:cNvPr id="10" name="TextBox 10"/>
          <p:cNvSpPr txBox="1"/>
          <p:nvPr/>
        </p:nvSpPr>
        <p:spPr>
          <a:xfrm>
            <a:off x="635251" y="5798672"/>
            <a:ext cx="4474024" cy="1554015"/>
          </a:xfrm>
          <a:prstGeom prst="rect">
            <a:avLst/>
          </a:prstGeom>
        </p:spPr>
        <p:txBody>
          <a:bodyPr lIns="0" tIns="0" rIns="0" bIns="0" rtlCol="0" anchor="t">
            <a:spAutoFit/>
          </a:bodyPr>
          <a:lstStyle/>
          <a:p>
            <a:pPr algn="ctr">
              <a:lnSpc>
                <a:spcPts val="4073"/>
              </a:lnSpc>
            </a:pPr>
            <a:endParaRPr/>
          </a:p>
          <a:p>
            <a:pPr algn="ctr">
              <a:lnSpc>
                <a:spcPts val="4073"/>
              </a:lnSpc>
            </a:pPr>
            <a:r>
              <a:rPr lang="en-US" sz="2951" b="1" spc="289">
                <a:solidFill>
                  <a:srgbClr val="231F20"/>
                </a:solidFill>
                <a:latin typeface="DM Sans Bold"/>
                <a:ea typeface="DM Sans Bold"/>
                <a:cs typeface="DM Sans Bold"/>
                <a:sym typeface="DM Sans Bold"/>
              </a:rPr>
              <a:t>TOKENIZATION,</a:t>
            </a:r>
          </a:p>
          <a:p>
            <a:pPr algn="ctr">
              <a:lnSpc>
                <a:spcPts val="4073"/>
              </a:lnSpc>
            </a:pPr>
            <a:r>
              <a:rPr lang="en-US" sz="2950" b="1" spc="289">
                <a:solidFill>
                  <a:srgbClr val="231F20"/>
                </a:solidFill>
                <a:latin typeface="DM Sans Bold"/>
                <a:ea typeface="DM Sans Bold"/>
                <a:cs typeface="DM Sans Bold"/>
                <a:sym typeface="DM Sans Bold"/>
              </a:rPr>
              <a:t>VECTORIZATION</a:t>
            </a:r>
            <a:endParaRPr lang="en-US" sz="2950" b="1" spc="289">
              <a:solidFill>
                <a:srgbClr val="231F20"/>
              </a:solidFill>
              <a:latin typeface="DM Sans Bold"/>
              <a:ea typeface="DM Sans Bold"/>
              <a:cs typeface="DM Sans Bold"/>
            </a:endParaRPr>
          </a:p>
        </p:txBody>
      </p:sp>
      <p:sp>
        <p:nvSpPr>
          <p:cNvPr id="11" name="Freeform 11"/>
          <p:cNvSpPr/>
          <p:nvPr/>
        </p:nvSpPr>
        <p:spPr>
          <a:xfrm>
            <a:off x="4813739" y="1920649"/>
            <a:ext cx="2027545" cy="3080525"/>
          </a:xfrm>
          <a:custGeom>
            <a:avLst/>
            <a:gdLst/>
            <a:ahLst/>
            <a:cxnLst/>
            <a:rect l="l" t="t" r="r" b="b"/>
            <a:pathLst>
              <a:path w="2027545" h="308052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5694444" y="5240576"/>
            <a:ext cx="501082" cy="50108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id="14" name="TextBox 14"/>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15" name="TextBox 15"/>
          <p:cNvSpPr txBox="1"/>
          <p:nvPr/>
        </p:nvSpPr>
        <p:spPr>
          <a:xfrm>
            <a:off x="4680672" y="2332525"/>
            <a:ext cx="2027545" cy="1121713"/>
          </a:xfrm>
          <a:prstGeom prst="rect">
            <a:avLst/>
          </a:prstGeom>
        </p:spPr>
        <p:txBody>
          <a:bodyPr lIns="0" tIns="0" rIns="0" bIns="0" rtlCol="0" anchor="t">
            <a:spAutoFit/>
          </a:bodyPr>
          <a:lstStyle/>
          <a:p>
            <a:pPr algn="ctr">
              <a:lnSpc>
                <a:spcPts val="9141"/>
              </a:lnSpc>
            </a:pPr>
            <a:r>
              <a:rPr lang="en-US" sz="6624" b="1" spc="649">
                <a:solidFill>
                  <a:srgbClr val="FFFBFB"/>
                </a:solidFill>
                <a:latin typeface="DM Sans Bold"/>
                <a:ea typeface="DM Sans Bold"/>
                <a:cs typeface="DM Sans Bold"/>
                <a:sym typeface="DM Sans Bold"/>
              </a:rPr>
              <a:t>13</a:t>
            </a:r>
          </a:p>
        </p:txBody>
      </p:sp>
      <p:sp>
        <p:nvSpPr>
          <p:cNvPr id="16" name="Freeform 16"/>
          <p:cNvSpPr/>
          <p:nvPr/>
        </p:nvSpPr>
        <p:spPr>
          <a:xfrm>
            <a:off x="7730517" y="1913976"/>
            <a:ext cx="2027545" cy="3080525"/>
          </a:xfrm>
          <a:custGeom>
            <a:avLst/>
            <a:gdLst/>
            <a:ahLst/>
            <a:cxnLst/>
            <a:rect l="l" t="t" r="r" b="b"/>
            <a:pathLst>
              <a:path w="2027545" h="308052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7" name="Group 17"/>
          <p:cNvGrpSpPr/>
          <p:nvPr/>
        </p:nvGrpSpPr>
        <p:grpSpPr>
          <a:xfrm>
            <a:off x="8493749" y="5236533"/>
            <a:ext cx="501082" cy="50108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id="19" name="TextBox 19"/>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20" name="TextBox 20"/>
          <p:cNvSpPr txBox="1"/>
          <p:nvPr/>
        </p:nvSpPr>
        <p:spPr>
          <a:xfrm>
            <a:off x="7869768" y="2332525"/>
            <a:ext cx="2027545" cy="1121713"/>
          </a:xfrm>
          <a:prstGeom prst="rect">
            <a:avLst/>
          </a:prstGeom>
        </p:spPr>
        <p:txBody>
          <a:bodyPr lIns="0" tIns="0" rIns="0" bIns="0" rtlCol="0" anchor="t">
            <a:spAutoFit/>
          </a:bodyPr>
          <a:lstStyle/>
          <a:p>
            <a:pPr algn="ctr">
              <a:lnSpc>
                <a:spcPts val="9141"/>
              </a:lnSpc>
            </a:pPr>
            <a:r>
              <a:rPr lang="en-US" sz="6624" b="1" spc="649">
                <a:solidFill>
                  <a:srgbClr val="FFFBFB"/>
                </a:solidFill>
                <a:latin typeface="DM Sans Bold"/>
                <a:ea typeface="DM Sans Bold"/>
                <a:cs typeface="DM Sans Bold"/>
                <a:sym typeface="DM Sans Bold"/>
              </a:rPr>
              <a:t>38</a:t>
            </a:r>
          </a:p>
        </p:txBody>
      </p:sp>
      <p:sp>
        <p:nvSpPr>
          <p:cNvPr id="21" name="Freeform 21"/>
          <p:cNvSpPr/>
          <p:nvPr/>
        </p:nvSpPr>
        <p:spPr>
          <a:xfrm>
            <a:off x="10344989" y="2062975"/>
            <a:ext cx="2027545" cy="3080525"/>
          </a:xfrm>
          <a:custGeom>
            <a:avLst/>
            <a:gdLst/>
            <a:ahLst/>
            <a:cxnLst/>
            <a:rect l="l" t="t" r="r" b="b"/>
            <a:pathLst>
              <a:path w="2027545" h="308052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2" name="Group 22"/>
          <p:cNvGrpSpPr/>
          <p:nvPr/>
        </p:nvGrpSpPr>
        <p:grpSpPr>
          <a:xfrm>
            <a:off x="11109784" y="5335691"/>
            <a:ext cx="501082" cy="50108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id="24" name="TextBox 24"/>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25" name="TextBox 25"/>
          <p:cNvSpPr txBox="1"/>
          <p:nvPr/>
        </p:nvSpPr>
        <p:spPr>
          <a:xfrm>
            <a:off x="10346553" y="2339199"/>
            <a:ext cx="2027545" cy="1121713"/>
          </a:xfrm>
          <a:prstGeom prst="rect">
            <a:avLst/>
          </a:prstGeom>
        </p:spPr>
        <p:txBody>
          <a:bodyPr lIns="0" tIns="0" rIns="0" bIns="0" rtlCol="0" anchor="t">
            <a:spAutoFit/>
          </a:bodyPr>
          <a:lstStyle/>
          <a:p>
            <a:pPr algn="ctr">
              <a:lnSpc>
                <a:spcPts val="9141"/>
              </a:lnSpc>
            </a:pPr>
            <a:r>
              <a:rPr lang="en-US" sz="6624" b="1" spc="649">
                <a:solidFill>
                  <a:srgbClr val="FFFBFB"/>
                </a:solidFill>
                <a:latin typeface="DM Sans Bold"/>
                <a:ea typeface="DM Sans Bold"/>
                <a:cs typeface="DM Sans Bold"/>
                <a:sym typeface="DM Sans Bold"/>
              </a:rPr>
              <a:t>53</a:t>
            </a:r>
          </a:p>
        </p:txBody>
      </p:sp>
      <p:sp>
        <p:nvSpPr>
          <p:cNvPr id="26" name="TextBox 26"/>
          <p:cNvSpPr txBox="1"/>
          <p:nvPr/>
        </p:nvSpPr>
        <p:spPr>
          <a:xfrm>
            <a:off x="4813739" y="6081116"/>
            <a:ext cx="2709833" cy="1513441"/>
          </a:xfrm>
          <a:prstGeom prst="rect">
            <a:avLst/>
          </a:prstGeom>
        </p:spPr>
        <p:txBody>
          <a:bodyPr lIns="0" tIns="0" rIns="0" bIns="0" rtlCol="0" anchor="t">
            <a:spAutoFit/>
          </a:bodyPr>
          <a:lstStyle/>
          <a:p>
            <a:pPr algn="ctr">
              <a:lnSpc>
                <a:spcPts val="4073"/>
              </a:lnSpc>
            </a:pPr>
            <a:r>
              <a:rPr lang="en-US" sz="2951" b="1" spc="289">
                <a:solidFill>
                  <a:srgbClr val="231F20"/>
                </a:solidFill>
                <a:latin typeface="DM Sans Bold"/>
                <a:ea typeface="DM Sans Bold"/>
                <a:cs typeface="DM Sans Bold"/>
                <a:sym typeface="DM Sans Bold"/>
              </a:rPr>
              <a:t>TRAINING</a:t>
            </a:r>
          </a:p>
          <a:p>
            <a:pPr algn="ctr">
              <a:lnSpc>
                <a:spcPts val="4073"/>
              </a:lnSpc>
            </a:pPr>
            <a:r>
              <a:rPr lang="en-US" sz="2951" b="1" spc="289">
                <a:solidFill>
                  <a:srgbClr val="231F20"/>
                </a:solidFill>
                <a:latin typeface="DM Sans Bold"/>
                <a:ea typeface="DM Sans Bold"/>
                <a:cs typeface="DM Sans Bold"/>
                <a:sym typeface="DM Sans Bold"/>
              </a:rPr>
              <a:t>AND </a:t>
            </a:r>
          </a:p>
          <a:p>
            <a:pPr algn="ctr">
              <a:lnSpc>
                <a:spcPts val="4073"/>
              </a:lnSpc>
            </a:pPr>
            <a:r>
              <a:rPr lang="en-US" sz="2951" b="1" spc="289">
                <a:solidFill>
                  <a:srgbClr val="231F20"/>
                </a:solidFill>
                <a:latin typeface="DM Sans Bold"/>
                <a:ea typeface="DM Sans Bold"/>
                <a:cs typeface="DM Sans Bold"/>
                <a:sym typeface="DM Sans Bold"/>
              </a:rPr>
              <a:t>TESTING</a:t>
            </a:r>
          </a:p>
        </p:txBody>
      </p:sp>
      <p:sp>
        <p:nvSpPr>
          <p:cNvPr id="27" name="TextBox 27"/>
          <p:cNvSpPr txBox="1"/>
          <p:nvPr/>
        </p:nvSpPr>
        <p:spPr>
          <a:xfrm>
            <a:off x="10502147" y="6166359"/>
            <a:ext cx="2709833" cy="2027711"/>
          </a:xfrm>
          <a:prstGeom prst="rect">
            <a:avLst/>
          </a:prstGeom>
        </p:spPr>
        <p:txBody>
          <a:bodyPr lIns="0" tIns="0" rIns="0" bIns="0" rtlCol="0" anchor="t">
            <a:spAutoFit/>
          </a:bodyPr>
          <a:lstStyle/>
          <a:p>
            <a:pPr algn="ctr">
              <a:lnSpc>
                <a:spcPts val="4073"/>
              </a:lnSpc>
            </a:pPr>
            <a:r>
              <a:rPr lang="en-US" sz="2951" b="1" spc="289">
                <a:solidFill>
                  <a:srgbClr val="231F20"/>
                </a:solidFill>
                <a:latin typeface="DM Sans Bold"/>
                <a:ea typeface="DM Sans Bold"/>
                <a:cs typeface="DM Sans Bold"/>
                <a:sym typeface="DM Sans Bold"/>
              </a:rPr>
              <a:t>RANDOM FOREST MODEL,</a:t>
            </a:r>
          </a:p>
          <a:p>
            <a:pPr algn="ctr">
              <a:lnSpc>
                <a:spcPts val="4073"/>
              </a:lnSpc>
            </a:pPr>
            <a:r>
              <a:rPr lang="en-US" sz="2951" b="1" spc="289">
                <a:solidFill>
                  <a:srgbClr val="231F20"/>
                </a:solidFill>
                <a:latin typeface="DM Sans Bold"/>
                <a:ea typeface="DM Sans Bold"/>
                <a:cs typeface="DM Sans Bold"/>
                <a:sym typeface="DM Sans Bold"/>
              </a:rPr>
              <a:t>PLOTTING</a:t>
            </a:r>
          </a:p>
        </p:txBody>
      </p:sp>
      <p:sp>
        <p:nvSpPr>
          <p:cNvPr id="28" name="TextBox 28"/>
          <p:cNvSpPr txBox="1"/>
          <p:nvPr/>
        </p:nvSpPr>
        <p:spPr>
          <a:xfrm>
            <a:off x="13478680" y="6098571"/>
            <a:ext cx="3780620" cy="1513441"/>
          </a:xfrm>
          <a:prstGeom prst="rect">
            <a:avLst/>
          </a:prstGeom>
        </p:spPr>
        <p:txBody>
          <a:bodyPr lIns="0" tIns="0" rIns="0" bIns="0" rtlCol="0" anchor="t">
            <a:spAutoFit/>
          </a:bodyPr>
          <a:lstStyle/>
          <a:p>
            <a:pPr algn="ctr">
              <a:lnSpc>
                <a:spcPts val="4073"/>
              </a:lnSpc>
            </a:pPr>
            <a:r>
              <a:rPr lang="en-US" sz="2951" b="1" spc="289">
                <a:solidFill>
                  <a:srgbClr val="231F20"/>
                </a:solidFill>
                <a:latin typeface="DM Sans Bold"/>
                <a:ea typeface="DM Sans Bold"/>
                <a:cs typeface="DM Sans Bold"/>
                <a:sym typeface="DM Sans Bold"/>
              </a:rPr>
              <a:t>DATASET,</a:t>
            </a:r>
          </a:p>
          <a:p>
            <a:pPr algn="ctr">
              <a:lnSpc>
                <a:spcPts val="4073"/>
              </a:lnSpc>
            </a:pPr>
            <a:r>
              <a:rPr lang="en-US" sz="2951" b="1" spc="289">
                <a:solidFill>
                  <a:srgbClr val="231F20"/>
                </a:solidFill>
                <a:latin typeface="DM Sans Bold"/>
                <a:ea typeface="DM Sans Bold"/>
                <a:cs typeface="DM Sans Bold"/>
                <a:sym typeface="DM Sans Bold"/>
              </a:rPr>
              <a:t>DATA PREPROCESSING,</a:t>
            </a:r>
          </a:p>
        </p:txBody>
      </p:sp>
      <p:sp>
        <p:nvSpPr>
          <p:cNvPr id="29" name="Freeform 29"/>
          <p:cNvSpPr/>
          <p:nvPr/>
        </p:nvSpPr>
        <p:spPr>
          <a:xfrm rot="-10799999">
            <a:off x="-6204251" y="-4371597"/>
            <a:ext cx="7835077" cy="10939025"/>
          </a:xfrm>
          <a:custGeom>
            <a:avLst/>
            <a:gdLst/>
            <a:ahLst/>
            <a:cxnLst/>
            <a:rect l="l" t="t" r="r" b="b"/>
            <a:pathLst>
              <a:path w="7835077" h="10939025">
                <a:moveTo>
                  <a:pt x="0" y="0"/>
                </a:moveTo>
                <a:lnTo>
                  <a:pt x="7835077" y="0"/>
                </a:lnTo>
                <a:lnTo>
                  <a:pt x="7835077" y="10939025"/>
                </a:lnTo>
                <a:lnTo>
                  <a:pt x="0" y="1093902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TextBox 30"/>
          <p:cNvSpPr txBox="1"/>
          <p:nvPr/>
        </p:nvSpPr>
        <p:spPr>
          <a:xfrm>
            <a:off x="5827512" y="538889"/>
            <a:ext cx="6832618" cy="981075"/>
          </a:xfrm>
          <a:prstGeom prst="rect">
            <a:avLst/>
          </a:prstGeom>
        </p:spPr>
        <p:txBody>
          <a:bodyPr lIns="0" tIns="0" rIns="0" bIns="0" rtlCol="0" anchor="t">
            <a:spAutoFit/>
          </a:bodyPr>
          <a:lstStyle/>
          <a:p>
            <a:pPr algn="ctr">
              <a:lnSpc>
                <a:spcPts val="7800"/>
              </a:lnSpc>
              <a:spcBef>
                <a:spcPct val="0"/>
              </a:spcBef>
            </a:pPr>
            <a:r>
              <a:rPr lang="en-US" sz="6000" b="1">
                <a:solidFill>
                  <a:srgbClr val="000000"/>
                </a:solidFill>
                <a:latin typeface="Open Sauce Bold"/>
                <a:ea typeface="Open Sauce Bold"/>
                <a:cs typeface="Open Sauce Bold"/>
                <a:sym typeface="Open Sauce Bold"/>
              </a:rPr>
              <a:t>Contributions</a:t>
            </a:r>
          </a:p>
        </p:txBody>
      </p:sp>
      <p:sp>
        <p:nvSpPr>
          <p:cNvPr id="31" name="Freeform 31"/>
          <p:cNvSpPr/>
          <p:nvPr/>
        </p:nvSpPr>
        <p:spPr>
          <a:xfrm>
            <a:off x="13211980" y="2062975"/>
            <a:ext cx="2027545" cy="3080525"/>
          </a:xfrm>
          <a:custGeom>
            <a:avLst/>
            <a:gdLst/>
            <a:ahLst/>
            <a:cxnLst/>
            <a:rect l="l" t="t" r="r" b="b"/>
            <a:pathLst>
              <a:path w="2027545" h="308052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2" name="TextBox 32"/>
          <p:cNvSpPr txBox="1"/>
          <p:nvPr/>
        </p:nvSpPr>
        <p:spPr>
          <a:xfrm>
            <a:off x="13248619" y="2472938"/>
            <a:ext cx="2027545" cy="1130300"/>
          </a:xfrm>
          <a:prstGeom prst="rect">
            <a:avLst/>
          </a:prstGeom>
        </p:spPr>
        <p:txBody>
          <a:bodyPr lIns="0" tIns="0" rIns="0" bIns="0" rtlCol="0" anchor="t">
            <a:spAutoFit/>
          </a:bodyPr>
          <a:lstStyle/>
          <a:p>
            <a:pPr algn="ctr">
              <a:lnSpc>
                <a:spcPts val="9099"/>
              </a:lnSpc>
              <a:spcBef>
                <a:spcPct val="0"/>
              </a:spcBef>
            </a:pPr>
            <a:r>
              <a:rPr lang="en-US" sz="6999" b="1">
                <a:solidFill>
                  <a:srgbClr val="FDFBFB"/>
                </a:solidFill>
                <a:latin typeface="Open Sauce Bold"/>
                <a:ea typeface="Open Sauce Bold"/>
                <a:cs typeface="Open Sauce Bold"/>
                <a:sym typeface="Open Sauce Bold"/>
              </a:rPr>
              <a:t>57</a:t>
            </a:r>
          </a:p>
        </p:txBody>
      </p:sp>
      <p:grpSp>
        <p:nvGrpSpPr>
          <p:cNvPr id="33" name="Group 33"/>
          <p:cNvGrpSpPr/>
          <p:nvPr/>
        </p:nvGrpSpPr>
        <p:grpSpPr>
          <a:xfrm>
            <a:off x="14011851" y="5311739"/>
            <a:ext cx="501082" cy="501082"/>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1211"/>
            </a:solidFill>
          </p:spPr>
        </p:sp>
        <p:sp>
          <p:nvSpPr>
            <p:cNvPr id="35" name="TextBox 35"/>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36" name="TextBox 36"/>
          <p:cNvSpPr txBox="1"/>
          <p:nvPr/>
        </p:nvSpPr>
        <p:spPr>
          <a:xfrm>
            <a:off x="7528625" y="6081116"/>
            <a:ext cx="2709833" cy="1513441"/>
          </a:xfrm>
          <a:prstGeom prst="rect">
            <a:avLst/>
          </a:prstGeom>
        </p:spPr>
        <p:txBody>
          <a:bodyPr lIns="0" tIns="0" rIns="0" bIns="0" rtlCol="0" anchor="t">
            <a:spAutoFit/>
          </a:bodyPr>
          <a:lstStyle/>
          <a:p>
            <a:pPr algn="ctr">
              <a:lnSpc>
                <a:spcPts val="4073"/>
              </a:lnSpc>
            </a:pPr>
            <a:r>
              <a:rPr lang="en-US" sz="2951" b="1" spc="289">
                <a:solidFill>
                  <a:srgbClr val="231F20"/>
                </a:solidFill>
                <a:latin typeface="DM Sans Bold"/>
                <a:ea typeface="DM Sans Bold"/>
                <a:cs typeface="DM Sans Bold"/>
                <a:sym typeface="DM Sans Bold"/>
              </a:rPr>
              <a:t>TRAINING</a:t>
            </a:r>
          </a:p>
          <a:p>
            <a:pPr algn="ctr">
              <a:lnSpc>
                <a:spcPts val="4073"/>
              </a:lnSpc>
            </a:pPr>
            <a:r>
              <a:rPr lang="en-US" sz="2951" b="1" spc="289">
                <a:solidFill>
                  <a:srgbClr val="231F20"/>
                </a:solidFill>
                <a:latin typeface="DM Sans Bold"/>
                <a:ea typeface="DM Sans Bold"/>
                <a:cs typeface="DM Sans Bold"/>
                <a:sym typeface="DM Sans Bold"/>
              </a:rPr>
              <a:t>AND </a:t>
            </a:r>
          </a:p>
          <a:p>
            <a:pPr algn="ctr">
              <a:lnSpc>
                <a:spcPts val="4073"/>
              </a:lnSpc>
            </a:pPr>
            <a:r>
              <a:rPr lang="en-US" sz="2951" b="1" spc="289">
                <a:solidFill>
                  <a:srgbClr val="231F20"/>
                </a:solidFill>
                <a:latin typeface="DM Sans Bold"/>
                <a:ea typeface="DM Sans Bold"/>
                <a:cs typeface="DM Sans Bold"/>
                <a:sym typeface="DM Sans Bold"/>
              </a:rPr>
              <a:t>ANALYSIS</a:t>
            </a: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09d16a7-e2cf-4a70-894c-a48844ace1f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554169748458E4EA39FC93A8F253304" ma:contentTypeVersion="14" ma:contentTypeDescription="Create a new document." ma:contentTypeScope="" ma:versionID="9ffdcda3a2a828d9d4f319d99a6a4b67">
  <xsd:schema xmlns:xsd="http://www.w3.org/2001/XMLSchema" xmlns:xs="http://www.w3.org/2001/XMLSchema" xmlns:p="http://schemas.microsoft.com/office/2006/metadata/properties" xmlns:ns3="109d16a7-e2cf-4a70-894c-a48844ace1f1" xmlns:ns4="8941a63c-5e83-4311-9098-c4a2da7961d6" targetNamespace="http://schemas.microsoft.com/office/2006/metadata/properties" ma:root="true" ma:fieldsID="69d5e96637d8993f66940a5fbfbca3d1" ns3:_="" ns4:_="">
    <xsd:import namespace="109d16a7-e2cf-4a70-894c-a48844ace1f1"/>
    <xsd:import namespace="8941a63c-5e83-4311-9098-c4a2da7961d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GenerationTime" minOccurs="0"/>
                <xsd:element ref="ns3:MediaServiceEventHashCode" minOccurs="0"/>
                <xsd:element ref="ns3:MediaLengthInSeconds" minOccurs="0"/>
                <xsd:element ref="ns3:MediaServiceSystemTags" minOccurs="0"/>
                <xsd:element ref="ns3:MediaServiceOCR"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9d16a7-e2cf-4a70-894c-a48844ace1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41a63c-5e83-4311-9098-c4a2da7961d6"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5F092E-2360-4821-BC7C-E077F1C62076}">
  <ds:schemaRefs>
    <ds:schemaRef ds:uri="http://purl.org/dc/terms/"/>
    <ds:schemaRef ds:uri="http://schemas.microsoft.com/office/2006/documentManagement/types"/>
    <ds:schemaRef ds:uri="http://purl.org/dc/dcmitype/"/>
    <ds:schemaRef ds:uri="http://www.w3.org/XML/1998/namespace"/>
    <ds:schemaRef ds:uri="http://schemas.openxmlformats.org/package/2006/metadata/core-properties"/>
    <ds:schemaRef ds:uri="http://schemas.microsoft.com/office/infopath/2007/PartnerControls"/>
    <ds:schemaRef ds:uri="8941a63c-5e83-4311-9098-c4a2da7961d6"/>
    <ds:schemaRef ds:uri="109d16a7-e2cf-4a70-894c-a48844ace1f1"/>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336ED56E-68CC-45E1-9186-C9BF3B091A9C}">
  <ds:schemaRefs>
    <ds:schemaRef ds:uri="http://schemas.microsoft.com/sharepoint/v3/contenttype/forms"/>
  </ds:schemaRefs>
</ds:datastoreItem>
</file>

<file path=customXml/itemProps3.xml><?xml version="1.0" encoding="utf-8"?>
<ds:datastoreItem xmlns:ds="http://schemas.openxmlformats.org/officeDocument/2006/customXml" ds:itemID="{CDA08D6A-BF30-4AAC-91B3-1EDFB8F454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9d16a7-e2cf-4a70-894c-a48844ace1f1"/>
    <ds:schemaRef ds:uri="8941a63c-5e83-4311-9098-c4a2da7961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162</TotalTime>
  <Words>1093</Words>
  <Application>Microsoft Office PowerPoint</Application>
  <PresentationFormat>Custom</PresentationFormat>
  <Paragraphs>165</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Oswald Bold</vt:lpstr>
      <vt:lpstr>Calibri</vt:lpstr>
      <vt:lpstr>Arial</vt:lpstr>
      <vt:lpstr>Montserrat Classic Bold</vt:lpstr>
      <vt:lpstr>Montserrat Classic</vt:lpstr>
      <vt:lpstr>DM Sans Bold</vt:lpstr>
      <vt:lpstr>Open Sauce</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business project presentation </dc:title>
  <cp:lastModifiedBy>Patel Srikari Shasi-[CB.SC.U4AIE23053]</cp:lastModifiedBy>
  <cp:revision>5</cp:revision>
  <dcterms:created xsi:type="dcterms:W3CDTF">2006-08-16T00:00:00Z</dcterms:created>
  <dcterms:modified xsi:type="dcterms:W3CDTF">2024-11-08T04:34:50Z</dcterms:modified>
  <dc:identifier>DAGVyRoLbXc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0x010100B554169748458E4EA39FC93A8F253304</vt:lpwstr>
  </property>
</Properties>
</file>